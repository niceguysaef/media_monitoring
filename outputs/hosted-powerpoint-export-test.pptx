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B83A18"/>
            </a:solidFill>
            <a:ln w="31750">
              <a:solidFill>
                <a:srgbClr val="B83A18"/>
              </a:solidFill>
            </a:ln>
          </c:spPr>
          <c:marker>
            <c:size val="6"/>
            <c:spPr>
              <a:solidFill>
                <a:srgbClr val="B83A18"/>
              </a:solidFill>
              <a:ln>
                <a:solidFill>
                  <a:srgbClr val="B83A18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27 Aug</c:v>
                </c:pt>
                <c:pt idx="1">
                  <c:v>28 Aug</c:v>
                </c:pt>
                <c:pt idx="2">
                  <c:v>29 Aug</c:v>
                </c:pt>
                <c:pt idx="3">
                  <c:v>30 Aug</c:v>
                </c:pt>
                <c:pt idx="4">
                  <c:v>31 Aug</c:v>
                </c:pt>
                <c:pt idx="5">
                  <c:v>1 Sep</c:v>
                </c:pt>
                <c:pt idx="6">
                  <c:v>2 Sep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100.0</c:v>
                </c:pt>
                <c:pt idx="1">
                  <c:v>124.0</c:v>
                </c:pt>
                <c:pt idx="2">
                  <c:v>148.0</c:v>
                </c:pt>
                <c:pt idx="3">
                  <c:v>172.0</c:v>
                </c:pt>
                <c:pt idx="4">
                  <c:v>196.0</c:v>
                </c:pt>
                <c:pt idx="5">
                  <c:v>220.0</c:v>
                </c:pt>
                <c:pt idx="6">
                  <c:v>244.0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rgbClr val="ECA81A"/>
            </a:solidFill>
            <a:ln w="31750">
              <a:solidFill>
                <a:srgbClr val="ECA81A"/>
              </a:solidFill>
            </a:ln>
          </c:spPr>
          <c:marker>
            <c:size val="6"/>
            <c:spPr>
              <a:solidFill>
                <a:srgbClr val="ECA81A"/>
              </a:solidFill>
              <a:ln>
                <a:solidFill>
                  <a:srgbClr val="ECA81A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27 Aug</c:v>
                </c:pt>
                <c:pt idx="1">
                  <c:v>28 Aug</c:v>
                </c:pt>
                <c:pt idx="2">
                  <c:v>29 Aug</c:v>
                </c:pt>
                <c:pt idx="3">
                  <c:v>30 Aug</c:v>
                </c:pt>
                <c:pt idx="4">
                  <c:v>31 Aug</c:v>
                </c:pt>
                <c:pt idx="5">
                  <c:v>1 Sep</c:v>
                </c:pt>
                <c:pt idx="6">
                  <c:v>2 Sep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280.0</c:v>
                </c:pt>
                <c:pt idx="1">
                  <c:v>328.0</c:v>
                </c:pt>
                <c:pt idx="2">
                  <c:v>376.0</c:v>
                </c:pt>
                <c:pt idx="3">
                  <c:v>424.0</c:v>
                </c:pt>
                <c:pt idx="4">
                  <c:v>472.0</c:v>
                </c:pt>
                <c:pt idx="5">
                  <c:v>520.0</c:v>
                </c:pt>
                <c:pt idx="6">
                  <c:v>568.0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ED6E1F"/>
            </a:solidFill>
            <a:ln>
              <a:solidFill>
                <a:srgbClr val="ED6E1F"/>
              </a:solidFill>
            </a:ln>
          </c:spPr>
          <c:cat>
            <c:strRef>
              <c:f>Sheet1!$A$2:$A$5</c:f>
              <c:strCache>
                <c:ptCount val="4"/>
                <c:pt idx="0">
                  <c:v>News</c:v>
                </c:pt>
                <c:pt idx="1">
                  <c:v>X / Twitter</c:v>
                </c:pt>
                <c:pt idx="2">
                  <c:v>TikTok</c:v>
                </c:pt>
                <c:pt idx="3">
                  <c:v>YouTube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540.0</c:v>
                </c:pt>
                <c:pt idx="1">
                  <c:v>360.0</c:v>
                </c:pt>
                <c:pt idx="2">
                  <c:v>240.0</c:v>
                </c:pt>
                <c:pt idx="3">
                  <c:v>140.0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8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voice</c:v>
                </c:pt>
              </c:strCache>
            </c:strRef>
          </c:tx>
          <c:spPr>
            <a:solidFill>
              <a:srgbClr val="ED6E1F"/>
            </a:solidFill>
            <a:ln>
              <a:solidFill>
                <a:srgbClr val="ED6E1F"/>
              </a:solidFill>
            </a:ln>
          </c:spPr>
          <c:cat>
            <c:strRef>
              <c:f>Sheet1!$A$2:$A$4</c:f>
              <c:strCache>
                <c:ptCount val="3"/>
                <c:pt idx="0">
                  <c:v>Launch coverage</c:v>
                </c:pt>
                <c:pt idx="1">
                  <c:v>Customer response</c:v>
                </c:pt>
                <c:pt idx="2">
                  <c:v>Market comparison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42.5</c:v>
                </c:pt>
                <c:pt idx="1">
                  <c:v>31.0</c:v>
                </c:pt>
                <c:pt idx="2">
                  <c:v>18.5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8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in val="0.0"/>
        </c:scaling>
        <c:delete val="0"/>
        <c:axPos val="b"/>
        <c:majorGridlines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24749" cy="6858000"/>
          </a:xfrm>
          <a:prstGeom prst="rect">
            <a:avLst/>
          </a:prstGeom>
          <a:solidFill>
            <a:srgbClr val="B83A18"/>
          </a:solidFill>
          <a:ln>
            <a:solidFill>
              <a:srgbClr val="B83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24749" y="0"/>
            <a:ext cx="4667249" cy="6858000"/>
          </a:xfrm>
          <a:prstGeom prst="rect">
            <a:avLst/>
          </a:prstGeom>
          <a:solidFill>
            <a:srgbClr val="ECA81A"/>
          </a:solidFill>
          <a:ln>
            <a:solidFill>
              <a:srgbClr val="EC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7699" y="7239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D9BD"/>
                </a:solidFill>
                <a:latin typeface="Aptos"/>
              </a:defRPr>
            </a:pPr>
            <a:r>
              <a:t>MEDIA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99" y="1523999"/>
            <a:ext cx="6191250" cy="171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FFFFF"/>
                </a:solidFill>
                <a:latin typeface="Aptos"/>
              </a:defRPr>
            </a:pPr>
            <a:r>
              <a:t>Hosted PowerPoint Export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699" y="3562349"/>
            <a:ext cx="5715000" cy="438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Demo Brand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699" y="4171950"/>
            <a:ext cx="43814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E8D7"/>
                </a:solidFill>
                <a:latin typeface="Aptos"/>
              </a:defRPr>
            </a:pPr>
            <a:r>
              <a:t>2026-08-27  –  2026-09-02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49" y="2343150"/>
            <a:ext cx="3143250" cy="952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4150E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49" y="3524250"/>
            <a:ext cx="3143250" cy="323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4150E"/>
                </a:solidFill>
                <a:latin typeface="Aptos"/>
              </a:defRPr>
            </a:pPr>
            <a:r>
              <a:t>Live monitoring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49" y="5981699"/>
            <a:ext cx="3143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4150E"/>
                </a:solidFill>
                <a:latin typeface="Aptos"/>
              </a:defRPr>
            </a:pPr>
            <a:r>
              <a:t>Zestar Media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04900"/>
          </a:xfrm>
          <a:prstGeom prst="rect">
            <a:avLst/>
          </a:prstGeom>
          <a:solidFill>
            <a:srgbClr val="B83A18"/>
          </a:solidFill>
          <a:ln>
            <a:solidFill>
              <a:srgbClr val="B83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9550"/>
            <a:ext cx="7810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9BD"/>
                </a:solidFill>
                <a:latin typeface="Aptos"/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66724"/>
            <a:ext cx="102870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The conversation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4250" y="523874"/>
            <a:ext cx="5143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1619250"/>
            <a:ext cx="2381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C6256"/>
                </a:solidFill>
                <a:latin typeface="Aptos"/>
              </a:defRPr>
            </a:pPr>
            <a:r>
              <a:t>MENTIONS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1943100"/>
            <a:ext cx="2381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B83A18"/>
                </a:solidFill>
                <a:latin typeface="Aptos"/>
              </a:defRPr>
            </a:pPr>
            <a:r>
              <a:t>1.3K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2571750"/>
            <a:ext cx="2381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Across the reporting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619250"/>
            <a:ext cx="2381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C6256"/>
                </a:solidFill>
                <a:latin typeface="Aptos"/>
              </a:defRPr>
            </a:pPr>
            <a:r>
              <a:t>ESTIMATED 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43100"/>
            <a:ext cx="2381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B83A18"/>
                </a:solidFill>
                <a:latin typeface="Aptos"/>
              </a:defRPr>
            </a:pPr>
            <a:r>
              <a:t>2.8M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71750"/>
            <a:ext cx="2381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Potential audience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0" y="1619250"/>
            <a:ext cx="2381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C6256"/>
                </a:solidFill>
                <a:latin typeface="Aptos"/>
              </a:defRPr>
            </a:pPr>
            <a:r>
              <a:t>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0" y="1943100"/>
            <a:ext cx="2381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B83A18"/>
                </a:solidFill>
                <a:latin typeface="Aptos"/>
              </a:defRPr>
            </a:pPr>
            <a:r>
              <a:t>11.8K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2571750"/>
            <a:ext cx="2381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Likes, comments and shares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0" y="1619250"/>
            <a:ext cx="2381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C6256"/>
                </a:solidFill>
                <a:latin typeface="Aptos"/>
              </a:defRPr>
            </a:pPr>
            <a:r>
              <a:t>PEAK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0" y="1943100"/>
            <a:ext cx="2381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B83A18"/>
                </a:solidFill>
                <a:latin typeface="Aptos"/>
              </a:defRPr>
            </a:pPr>
            <a:r>
              <a:t>2 Sep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0" y="2571750"/>
            <a:ext cx="2381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Highest daily engagement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50" y="3429000"/>
            <a:ext cx="10858500" cy="2095499"/>
          </a:xfrm>
          <a:prstGeom prst="roundRect">
            <a:avLst/>
          </a:prstGeom>
          <a:solidFill>
            <a:srgbClr val="FFF1E6"/>
          </a:solidFill>
          <a:ln w="9525">
            <a:solidFill>
              <a:srgbClr val="EC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499" y="3714750"/>
            <a:ext cx="2857500" cy="323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3A18"/>
                </a:solidFill>
                <a:latin typeface="Aptos"/>
              </a:defRPr>
            </a:pPr>
            <a:r>
              <a:t>What stands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99" y="4229100"/>
            <a:ext cx="9810750" cy="876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4150E"/>
                </a:solidFill>
                <a:latin typeface="Aptos"/>
              </a:defRPr>
            </a:pPr>
            <a:r>
              <a:t>Neutral sentiment accounts for 47.7% of classified mentions. news leads source volume with 540 mentions.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6496049"/>
            <a:ext cx="10972800" cy="9525"/>
          </a:xfrm>
          <a:prstGeom prst="rect">
            <a:avLst/>
          </a:prstGeom>
          <a:solidFill>
            <a:srgbClr val="EC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6572250"/>
            <a:ext cx="80962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6256"/>
                </a:solidFill>
                <a:latin typeface="Aptos"/>
              </a:defRPr>
            </a:pPr>
            <a:r>
              <a:t>Demo Brand  •  2026-08-27 – 2026-09-02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0" y="6572250"/>
            <a:ext cx="27241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C6256"/>
                </a:solidFill>
                <a:latin typeface="Aptos"/>
              </a:defRPr>
            </a:pPr>
            <a:r>
              <a:t>Zestar Media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04900"/>
          </a:xfrm>
          <a:prstGeom prst="rect">
            <a:avLst/>
          </a:prstGeom>
          <a:solidFill>
            <a:srgbClr val="B83A18"/>
          </a:solidFill>
          <a:ln>
            <a:solidFill>
              <a:srgbClr val="B83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9550"/>
            <a:ext cx="7810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9BD"/>
                </a:solidFill>
                <a:latin typeface="Aptos"/>
              </a:defRPr>
            </a:pPr>
            <a:r>
              <a:t>DAILY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66724"/>
            <a:ext cx="102870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Attention moved through distinct daily peaks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4250" y="523874"/>
            <a:ext cx="5143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1428750"/>
            <a:ext cx="2857500" cy="323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3A18"/>
                </a:solidFill>
                <a:latin typeface="Aptos"/>
              </a:defRPr>
            </a:pPr>
            <a:r>
              <a:t>Mentions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1428750"/>
            <a:ext cx="2857500" cy="323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CA81A"/>
                </a:solidFill>
                <a:latin typeface="Aptos"/>
              </a:defRPr>
            </a:pPr>
            <a:r>
              <a:t>Engagement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6750" y="1857375"/>
          <a:ext cx="5048250" cy="34766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86500" y="1857375"/>
          <a:ext cx="5238749" cy="34766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09600" y="6496049"/>
            <a:ext cx="10972800" cy="9525"/>
          </a:xfrm>
          <a:prstGeom prst="rect">
            <a:avLst/>
          </a:prstGeom>
          <a:solidFill>
            <a:srgbClr val="EC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6572250"/>
            <a:ext cx="80962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6256"/>
                </a:solidFill>
                <a:latin typeface="Aptos"/>
              </a:defRPr>
            </a:pPr>
            <a:r>
              <a:t>Demo Brand  •  2026-08-27 – 2026-09-02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0" y="6572250"/>
            <a:ext cx="27241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C6256"/>
                </a:solidFill>
                <a:latin typeface="Aptos"/>
              </a:defRPr>
            </a:pPr>
            <a:r>
              <a:t>Zestar Media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04900"/>
          </a:xfrm>
          <a:prstGeom prst="rect">
            <a:avLst/>
          </a:prstGeom>
          <a:solidFill>
            <a:srgbClr val="B83A18"/>
          </a:solidFill>
          <a:ln>
            <a:solidFill>
              <a:srgbClr val="B83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9550"/>
            <a:ext cx="7810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9BD"/>
                </a:solidFill>
                <a:latin typeface="Aptos"/>
              </a:defRPr>
            </a:pPr>
            <a:r>
              <a:t>SOURCE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66724"/>
            <a:ext cx="102870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small group of sources drove most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4250" y="523874"/>
            <a:ext cx="5143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6750" y="1504950"/>
          <a:ext cx="7238999" cy="42862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77249" y="1904999"/>
            <a:ext cx="26670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7C6256"/>
                </a:solidFill>
                <a:latin typeface="Aptos"/>
              </a:defRPr>
            </a:pPr>
            <a:r>
              <a:t>Leading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49" y="2333624"/>
            <a:ext cx="2667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B83A18"/>
                </a:solidFill>
                <a:latin typeface="Aptos"/>
              </a:defRPr>
            </a:pPr>
            <a:r>
              <a:t>news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49" y="3190874"/>
            <a:ext cx="2667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4150E"/>
                </a:solidFill>
                <a:latin typeface="Aptos"/>
              </a:defRPr>
            </a:pPr>
            <a:r>
              <a:t>540 mentions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4150E"/>
                </a:solidFill>
                <a:latin typeface="Aptos"/>
              </a:defRPr>
            </a:pPr>
            <a:r>
              <a:t>1.2M estimated 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49" y="4476750"/>
            <a:ext cx="26670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Source reach is aggregated; it is not a unique-audience count.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6496049"/>
            <a:ext cx="10972800" cy="9525"/>
          </a:xfrm>
          <a:prstGeom prst="rect">
            <a:avLst/>
          </a:prstGeom>
          <a:solidFill>
            <a:srgbClr val="EC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6572250"/>
            <a:ext cx="80962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6256"/>
                </a:solidFill>
                <a:latin typeface="Aptos"/>
              </a:defRPr>
            </a:pPr>
            <a:r>
              <a:t>Demo Brand  •  2026-08-27 – 2026-09-02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0" y="6572250"/>
            <a:ext cx="27241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C6256"/>
                </a:solidFill>
                <a:latin typeface="Aptos"/>
              </a:defRPr>
            </a:pPr>
            <a:r>
              <a:t>Zestar Media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04900"/>
          </a:xfrm>
          <a:prstGeom prst="rect">
            <a:avLst/>
          </a:prstGeom>
          <a:solidFill>
            <a:srgbClr val="B83A18"/>
          </a:solidFill>
          <a:ln>
            <a:solidFill>
              <a:srgbClr val="B83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9550"/>
            <a:ext cx="7810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9BD"/>
                </a:solidFill>
                <a:latin typeface="Aptos"/>
              </a:defRPr>
            </a:pPr>
            <a:r>
              <a:t>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66724"/>
            <a:ext cx="102870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Neutral sentiment formed the largest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4250" y="523874"/>
            <a:ext cx="5143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1809749"/>
            <a:ext cx="5143500" cy="95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6C78A2"/>
                </a:solidFill>
                <a:latin typeface="Aptos"/>
              </a:defRPr>
            </a:pPr>
            <a:r>
              <a:t>47.7%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49" y="2809875"/>
            <a:ext cx="476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24150E"/>
                </a:solidFill>
                <a:latin typeface="Aptos"/>
              </a:defRPr>
            </a:pPr>
            <a:r>
              <a:t>Neutral share of classified mentions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0125" y="3571875"/>
            <a:ext cx="1823144" cy="514350"/>
          </a:xfrm>
          <a:prstGeom prst="rect">
            <a:avLst/>
          </a:prstGeom>
          <a:solidFill>
            <a:srgbClr val="287A55"/>
          </a:solidFill>
          <a:ln>
            <a:solidFill>
              <a:srgbClr val="28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23269" y="3571875"/>
            <a:ext cx="2269628" cy="514350"/>
          </a:xfrm>
          <a:prstGeom prst="rect">
            <a:avLst/>
          </a:prstGeom>
          <a:solidFill>
            <a:srgbClr val="6C78A2"/>
          </a:solidFill>
          <a:ln>
            <a:solidFill>
              <a:srgbClr val="6C7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92898" y="3571875"/>
            <a:ext cx="669726" cy="514350"/>
          </a:xfrm>
          <a:prstGeom prst="rect">
            <a:avLst/>
          </a:prstGeom>
          <a:solidFill>
            <a:srgbClr val="C84B38"/>
          </a:solidFill>
          <a:ln>
            <a:solidFill>
              <a:srgbClr val="C8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125" y="4305300"/>
            <a:ext cx="47625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Share of classified mentions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38999" y="1857375"/>
            <a:ext cx="76200" cy="723900"/>
          </a:xfrm>
          <a:prstGeom prst="rect">
            <a:avLst/>
          </a:prstGeom>
          <a:solidFill>
            <a:srgbClr val="287A55"/>
          </a:solidFill>
          <a:ln>
            <a:solidFill>
              <a:srgbClr val="28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4749" y="1857375"/>
            <a:ext cx="20954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4150E"/>
                </a:solidFill>
                <a:latin typeface="Aptos"/>
              </a:defRPr>
            </a:pPr>
            <a:r>
              <a:t>Positive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0" y="1809749"/>
            <a:ext cx="1428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287A55"/>
                </a:solidFill>
                <a:latin typeface="Aptos"/>
              </a:defRPr>
            </a:pPr>
            <a:r>
              <a:t>38.3%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49" y="2247899"/>
            <a:ext cx="37147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490 mentions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8999" y="3000375"/>
            <a:ext cx="76200" cy="723900"/>
          </a:xfrm>
          <a:prstGeom prst="rect">
            <a:avLst/>
          </a:prstGeom>
          <a:solidFill>
            <a:srgbClr val="6C78A2"/>
          </a:solidFill>
          <a:ln>
            <a:solidFill>
              <a:srgbClr val="6C7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4749" y="3000375"/>
            <a:ext cx="20954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4150E"/>
                </a:solidFill>
                <a:latin typeface="Aptos"/>
              </a:defRPr>
            </a:pPr>
            <a:r>
              <a:t>Neutral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0" y="2952750"/>
            <a:ext cx="1428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6C78A2"/>
                </a:solidFill>
                <a:latin typeface="Aptos"/>
              </a:defRPr>
            </a:pPr>
            <a:r>
              <a:t>47.7%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49" y="3390899"/>
            <a:ext cx="37147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610 mentions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8999" y="4143375"/>
            <a:ext cx="76200" cy="723900"/>
          </a:xfrm>
          <a:prstGeom prst="rect">
            <a:avLst/>
          </a:prstGeom>
          <a:solidFill>
            <a:srgbClr val="C84B38"/>
          </a:solidFill>
          <a:ln>
            <a:solidFill>
              <a:srgbClr val="C8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4749" y="4143375"/>
            <a:ext cx="20954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4150E"/>
                </a:solidFill>
                <a:latin typeface="Aptos"/>
              </a:defRPr>
            </a:pPr>
            <a:r>
              <a:t>Negative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0750" y="4095749"/>
            <a:ext cx="1428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C84B38"/>
                </a:solidFill>
                <a:latin typeface="Aptos"/>
              </a:defRPr>
            </a:pPr>
            <a:r>
              <a:t>14.1%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49" y="4533900"/>
            <a:ext cx="37147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180 mentions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6496049"/>
            <a:ext cx="10972800" cy="9525"/>
          </a:xfrm>
          <a:prstGeom prst="rect">
            <a:avLst/>
          </a:prstGeom>
          <a:solidFill>
            <a:srgbClr val="EC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6572250"/>
            <a:ext cx="80962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6256"/>
                </a:solidFill>
                <a:latin typeface="Aptos"/>
              </a:defRPr>
            </a:pPr>
            <a:r>
              <a:t>Demo Brand  •  2026-08-27 – 2026-09-02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0" y="6572250"/>
            <a:ext cx="27241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C6256"/>
                </a:solidFill>
                <a:latin typeface="Aptos"/>
              </a:defRPr>
            </a:pPr>
            <a:r>
              <a:t>Zestar Media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04900"/>
          </a:xfrm>
          <a:prstGeom prst="rect">
            <a:avLst/>
          </a:prstGeom>
          <a:solidFill>
            <a:srgbClr val="B83A18"/>
          </a:solidFill>
          <a:ln>
            <a:solidFill>
              <a:srgbClr val="B83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9550"/>
            <a:ext cx="7810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9BD"/>
                </a:solidFill>
                <a:latin typeface="Aptos"/>
              </a:defRPr>
            </a:pPr>
            <a:r>
              <a:t>TOPICS AND SHARE OF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66724"/>
            <a:ext cx="102870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The leading themes reveal where attention clustered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4250" y="523874"/>
            <a:ext cx="5143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6750" y="1523999"/>
          <a:ext cx="6286500" cy="40957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77124" y="1666874"/>
            <a:ext cx="38099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3A1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8624" y="1666874"/>
            <a:ext cx="3429000" cy="323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4150E"/>
                </a:solidFill>
                <a:latin typeface="Aptos"/>
              </a:defRPr>
            </a:pPr>
            <a:r>
              <a:t>Launch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8624" y="2066924"/>
            <a:ext cx="342900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News and social discussion focused on the launch announcement.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7124" y="2981325"/>
            <a:ext cx="38099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3A1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8624" y="2981325"/>
            <a:ext cx="3429000" cy="323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4150E"/>
                </a:solidFill>
                <a:latin typeface="Aptos"/>
              </a:defRPr>
            </a:pPr>
            <a:r>
              <a:t>Customer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8624" y="3381375"/>
            <a:ext cx="342900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Customers discussed product quality and availability.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7124" y="4295774"/>
            <a:ext cx="38099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3A1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8624" y="4295774"/>
            <a:ext cx="3429000" cy="323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4150E"/>
                </a:solidFill>
                <a:latin typeface="Aptos"/>
              </a:defRPr>
            </a:pPr>
            <a:r>
              <a:t>Market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8624" y="4695824"/>
            <a:ext cx="342900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Commentary compared the launch with competing offers.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6496049"/>
            <a:ext cx="10972800" cy="9525"/>
          </a:xfrm>
          <a:prstGeom prst="rect">
            <a:avLst/>
          </a:prstGeom>
          <a:solidFill>
            <a:srgbClr val="EC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6572250"/>
            <a:ext cx="80962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6256"/>
                </a:solidFill>
                <a:latin typeface="Aptos"/>
              </a:defRPr>
            </a:pPr>
            <a:r>
              <a:t>Demo Brand  •  2026-08-27 – 2026-09-02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0" y="6572250"/>
            <a:ext cx="27241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C6256"/>
                </a:solidFill>
                <a:latin typeface="Aptos"/>
              </a:defRPr>
            </a:pPr>
            <a:r>
              <a:t>Zestar Media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04900"/>
          </a:xfrm>
          <a:prstGeom prst="rect">
            <a:avLst/>
          </a:prstGeom>
          <a:solidFill>
            <a:srgbClr val="B83A18"/>
          </a:solidFill>
          <a:ln>
            <a:solidFill>
              <a:srgbClr val="B83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9550"/>
            <a:ext cx="7810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9BD"/>
                </a:solidFill>
                <a:latin typeface="Aptos"/>
              </a:defRPr>
            </a:pPr>
            <a:r>
              <a:t>WHO AND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66724"/>
            <a:ext cx="102870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Visibility came from both publishers and influential voices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4250" y="523874"/>
            <a:ext cx="5143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1476375"/>
            <a:ext cx="47625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B83A18"/>
                </a:solidFill>
                <a:latin typeface="Aptos"/>
              </a:defRPr>
            </a:pPr>
            <a:r>
              <a:t>Leading domains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1476375"/>
            <a:ext cx="47625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B83A18"/>
                </a:solidFill>
                <a:latin typeface="Aptos"/>
              </a:defRPr>
            </a:pPr>
            <a:r>
              <a:t>Influential authors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2095499"/>
            <a:ext cx="3429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83A1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95499"/>
            <a:ext cx="28575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150E"/>
                </a:solidFill>
                <a:latin typeface="Aptos"/>
              </a:defRPr>
            </a:pPr>
            <a:r>
              <a:t>source-0.example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81250"/>
            <a:ext cx="4190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6256"/>
                </a:solidFill>
                <a:latin typeface="Aptos"/>
              </a:defRPr>
            </a:pPr>
            <a:r>
              <a:t>50 mentions  •  90K 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2714625"/>
            <a:ext cx="3429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83A1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14625"/>
            <a:ext cx="28575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150E"/>
                </a:solidFill>
                <a:latin typeface="Aptos"/>
              </a:defRPr>
            </a:pPr>
            <a:r>
              <a:t>source-1.example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00375"/>
            <a:ext cx="4190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6256"/>
                </a:solidFill>
                <a:latin typeface="Aptos"/>
              </a:defRPr>
            </a:pPr>
            <a:r>
              <a:t>49 mentions  •  85K 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3333749"/>
            <a:ext cx="3429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83A1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33749"/>
            <a:ext cx="28575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150E"/>
                </a:solidFill>
                <a:latin typeface="Aptos"/>
              </a:defRPr>
            </a:pPr>
            <a:r>
              <a:t>source-2.example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19499"/>
            <a:ext cx="4190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6256"/>
                </a:solidFill>
                <a:latin typeface="Aptos"/>
              </a:defRPr>
            </a:pPr>
            <a:r>
              <a:t>48 mentions  •  80K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952874"/>
            <a:ext cx="3429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83A1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52874"/>
            <a:ext cx="28575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150E"/>
                </a:solidFill>
                <a:latin typeface="Aptos"/>
              </a:defRPr>
            </a:pPr>
            <a:r>
              <a:t>source-3.example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38624"/>
            <a:ext cx="4190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6256"/>
                </a:solidFill>
                <a:latin typeface="Aptos"/>
              </a:defRPr>
            </a:pPr>
            <a:r>
              <a:t>47 mentions  •  75K 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572000"/>
            <a:ext cx="3429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83A1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572000"/>
            <a:ext cx="28575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150E"/>
                </a:solidFill>
                <a:latin typeface="Aptos"/>
              </a:defRPr>
            </a:pPr>
            <a:r>
              <a:t>source-4.example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857750"/>
            <a:ext cx="4190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6256"/>
                </a:solidFill>
                <a:latin typeface="Aptos"/>
              </a:defRPr>
            </a:pPr>
            <a:r>
              <a:t>46 mentions  •  70K 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191125"/>
            <a:ext cx="3429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83A1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191125"/>
            <a:ext cx="28575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150E"/>
                </a:solidFill>
                <a:latin typeface="Aptos"/>
              </a:defRPr>
            </a:pPr>
            <a:r>
              <a:t>source-5.example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476875"/>
            <a:ext cx="4190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6256"/>
                </a:solidFill>
                <a:latin typeface="Aptos"/>
              </a:defRPr>
            </a:pPr>
            <a:r>
              <a:t>45 mentions  •  65K 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2095499"/>
            <a:ext cx="3429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ECA81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3249" y="2095499"/>
            <a:ext cx="28575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150E"/>
                </a:solidFill>
                <a:latin typeface="Aptos"/>
              </a:defRPr>
            </a:pPr>
            <a:r>
              <a:t>Author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3249" y="2381250"/>
            <a:ext cx="4190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6256"/>
                </a:solidFill>
                <a:latin typeface="Aptos"/>
              </a:defRPr>
            </a:pPr>
            <a:r>
              <a:t>800K followers  •  45K reach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2714625"/>
            <a:ext cx="3429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ECA81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3249" y="2714625"/>
            <a:ext cx="28575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150E"/>
                </a:solidFill>
                <a:latin typeface="Aptos"/>
              </a:defRPr>
            </a:pPr>
            <a:r>
              <a:t>Author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53249" y="3000375"/>
            <a:ext cx="4190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6256"/>
                </a:solidFill>
                <a:latin typeface="Aptos"/>
              </a:defRPr>
            </a:pPr>
            <a:r>
              <a:t>730K followers  •  42K reach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3333749"/>
            <a:ext cx="3429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ECA81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3249" y="3333749"/>
            <a:ext cx="28575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150E"/>
                </a:solidFill>
                <a:latin typeface="Aptos"/>
              </a:defRPr>
            </a:pPr>
            <a:r>
              <a:t>Author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3249" y="3619499"/>
            <a:ext cx="4190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6256"/>
                </a:solidFill>
                <a:latin typeface="Aptos"/>
              </a:defRPr>
            </a:pPr>
            <a:r>
              <a:t>660K followers  •  39K reach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0" y="3952874"/>
            <a:ext cx="3429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ECA81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53249" y="3952874"/>
            <a:ext cx="28575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150E"/>
                </a:solidFill>
                <a:latin typeface="Aptos"/>
              </a:defRPr>
            </a:pPr>
            <a:r>
              <a:t>Author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3249" y="4238624"/>
            <a:ext cx="4190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6256"/>
                </a:solidFill>
                <a:latin typeface="Aptos"/>
              </a:defRPr>
            </a:pPr>
            <a:r>
              <a:t>590K followers  •  36K reach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0" y="4572000"/>
            <a:ext cx="3429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ECA81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53249" y="4572000"/>
            <a:ext cx="28575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150E"/>
                </a:solidFill>
                <a:latin typeface="Aptos"/>
              </a:defRPr>
            </a:pPr>
            <a:r>
              <a:t>Author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3249" y="4857750"/>
            <a:ext cx="4190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6256"/>
                </a:solidFill>
                <a:latin typeface="Aptos"/>
              </a:defRPr>
            </a:pPr>
            <a:r>
              <a:t>520K followers  •  33K reach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0" y="5191125"/>
            <a:ext cx="3429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ECA81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53249" y="5191125"/>
            <a:ext cx="28575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150E"/>
                </a:solidFill>
                <a:latin typeface="Aptos"/>
              </a:defRPr>
            </a:pPr>
            <a:r>
              <a:t>Author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53249" y="5476875"/>
            <a:ext cx="41909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6256"/>
                </a:solidFill>
                <a:latin typeface="Aptos"/>
              </a:defRPr>
            </a:pPr>
            <a:r>
              <a:t>450K followers  •  30K reach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600" y="6496049"/>
            <a:ext cx="10972800" cy="9525"/>
          </a:xfrm>
          <a:prstGeom prst="rect">
            <a:avLst/>
          </a:prstGeom>
          <a:solidFill>
            <a:srgbClr val="EC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600" y="6572250"/>
            <a:ext cx="80962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6256"/>
                </a:solidFill>
                <a:latin typeface="Aptos"/>
              </a:defRPr>
            </a:pPr>
            <a:r>
              <a:t>Demo Brand  •  2026-08-27 – 2026-09-02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58250" y="6572250"/>
            <a:ext cx="27241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C6256"/>
                </a:solidFill>
                <a:latin typeface="Aptos"/>
              </a:defRPr>
            </a:pPr>
            <a:r>
              <a:t>Zestar Media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04900"/>
          </a:xfrm>
          <a:prstGeom prst="rect">
            <a:avLst/>
          </a:prstGeom>
          <a:solidFill>
            <a:srgbClr val="B83A18"/>
          </a:solidFill>
          <a:ln>
            <a:solidFill>
              <a:srgbClr val="B83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9550"/>
            <a:ext cx="7810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9BD"/>
                </a:solidFill>
                <a:latin typeface="Aptos"/>
              </a:defRPr>
            </a:pPr>
            <a:r>
              <a:t>FEATURED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66724"/>
            <a:ext cx="102870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Representative mentions capture how coverage was framed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4250" y="523874"/>
            <a:ext cx="5143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571625"/>
            <a:ext cx="3429000" cy="4095749"/>
          </a:xfrm>
          <a:prstGeom prst="roundRect">
            <a:avLst/>
          </a:prstGeom>
          <a:solidFill>
            <a:srgbClr val="FFF1E6"/>
          </a:solidFill>
          <a:ln w="9525">
            <a:solidFill>
              <a:srgbClr val="EC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828800"/>
            <a:ext cx="29718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87A55"/>
                </a:solidFill>
                <a:latin typeface="Aptos"/>
              </a:defRPr>
            </a:pPr>
            <a:r>
              <a:t>news  •  positive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286000"/>
            <a:ext cx="2971800" cy="876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4150E"/>
                </a:solidFill>
                <a:latin typeface="Aptos"/>
              </a:defRPr>
            </a:pPr>
            <a:r>
              <a:t>Representative coverage item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333749"/>
            <a:ext cx="2971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A concise excerpt showing how the story was framed for its audience.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5000625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83A18"/>
                </a:solidFill>
                <a:latin typeface="Aptos"/>
              </a:defRPr>
            </a:pPr>
            <a:r>
              <a:t>example.com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83A18"/>
                </a:solidFill>
                <a:latin typeface="Aptos"/>
              </a:defRPr>
            </a:pPr>
            <a:r>
              <a:t>2026-09-01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1571625"/>
            <a:ext cx="3429000" cy="409574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8200" y="1828800"/>
            <a:ext cx="29718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C78A2"/>
                </a:solidFill>
                <a:latin typeface="Aptos"/>
              </a:defRPr>
            </a:pPr>
            <a:r>
              <a:t>news  •  neutral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2286000"/>
            <a:ext cx="2971800" cy="876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4150E"/>
                </a:solidFill>
                <a:latin typeface="Aptos"/>
              </a:defRPr>
            </a:pPr>
            <a:r>
              <a:t>Representative coverage item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3333749"/>
            <a:ext cx="2971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A concise excerpt showing how the story was framed for its audience.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5000625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83A18"/>
                </a:solidFill>
                <a:latin typeface="Aptos"/>
              </a:defRPr>
            </a:pPr>
            <a:r>
              <a:t>example.com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83A18"/>
                </a:solidFill>
                <a:latin typeface="Aptos"/>
              </a:defRPr>
            </a:pPr>
            <a:r>
              <a:t>2026-09-01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71625"/>
            <a:ext cx="3429000" cy="409574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828800"/>
            <a:ext cx="29718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84B38"/>
                </a:solidFill>
                <a:latin typeface="Aptos"/>
              </a:defRPr>
            </a:pPr>
            <a:r>
              <a:t>news  •  negative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286000"/>
            <a:ext cx="2971800" cy="876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4150E"/>
                </a:solidFill>
                <a:latin typeface="Aptos"/>
              </a:defRPr>
            </a:pPr>
            <a:r>
              <a:t>Representative coverage item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333749"/>
            <a:ext cx="2971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C6256"/>
                </a:solidFill>
                <a:latin typeface="Aptos"/>
              </a:defRPr>
            </a:pPr>
            <a:r>
              <a:t>A concise excerpt showing how the story was framed for its audience.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5000625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83A18"/>
                </a:solidFill>
                <a:latin typeface="Aptos"/>
              </a:defRPr>
            </a:pPr>
            <a:r>
              <a:t>example.com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83A18"/>
                </a:solidFill>
                <a:latin typeface="Aptos"/>
              </a:defRPr>
            </a:pPr>
            <a:r>
              <a:t>2026-09-01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6496049"/>
            <a:ext cx="10972800" cy="9525"/>
          </a:xfrm>
          <a:prstGeom prst="rect">
            <a:avLst/>
          </a:prstGeom>
          <a:solidFill>
            <a:srgbClr val="EC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6572250"/>
            <a:ext cx="80962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6256"/>
                </a:solidFill>
                <a:latin typeface="Aptos"/>
              </a:defRPr>
            </a:pPr>
            <a:r>
              <a:t>Demo Brand  •  2026-08-27 – 2026-09-02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0" y="6572250"/>
            <a:ext cx="27241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C6256"/>
                </a:solidFill>
                <a:latin typeface="Aptos"/>
              </a:defRPr>
            </a:pPr>
            <a:r>
              <a:t>Zestar Media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04900"/>
          </a:xfrm>
          <a:prstGeom prst="rect">
            <a:avLst/>
          </a:prstGeom>
          <a:solidFill>
            <a:srgbClr val="B83A18"/>
          </a:solidFill>
          <a:ln>
            <a:solidFill>
              <a:srgbClr val="B83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9550"/>
            <a:ext cx="7810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9BD"/>
                </a:solidFill>
                <a:latin typeface="Aptos"/>
              </a:defRPr>
            </a:pPr>
            <a:r>
              <a:t>CONVERSATION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66724"/>
            <a:ext cx="102870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Shared links and hashtags reveal the conversation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4250" y="523874"/>
            <a:ext cx="5143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1476375"/>
            <a:ext cx="495299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B83A18"/>
                </a:solidFill>
                <a:latin typeface="Aptos"/>
              </a:defRPr>
            </a:pPr>
            <a:r>
              <a:t>Trending links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499" y="1476375"/>
            <a:ext cx="466724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B83A18"/>
                </a:solidFill>
                <a:latin typeface="Aptos"/>
              </a:defRPr>
            </a:pPr>
            <a:r>
              <a:t>Trending hashtags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2095499"/>
            <a:ext cx="4476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4150E"/>
                </a:solidFill>
                <a:latin typeface="Aptos"/>
              </a:defRPr>
            </a:pPr>
            <a:r>
              <a:t>https://example.com/coverage/1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49" y="2095499"/>
            <a:ext cx="95249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83A18"/>
                </a:solidFill>
                <a:latin typeface="Aptos"/>
              </a:defRPr>
            </a:pPr>
            <a:r>
              <a:t>12 mentions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2686050"/>
            <a:ext cx="4476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4150E"/>
                </a:solidFill>
                <a:latin typeface="Aptos"/>
              </a:defRPr>
            </a:pPr>
            <a:r>
              <a:t>https://example.com/coverage/2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49" y="2686050"/>
            <a:ext cx="95249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83A18"/>
                </a:solidFill>
                <a:latin typeface="Aptos"/>
              </a:defRPr>
            </a:pPr>
            <a:r>
              <a:t>11 mentions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3276599"/>
            <a:ext cx="4476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4150E"/>
                </a:solidFill>
                <a:latin typeface="Aptos"/>
              </a:defRPr>
            </a:pPr>
            <a:r>
              <a:t>https://example.com/coverage/3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49" y="3276599"/>
            <a:ext cx="95249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83A18"/>
                </a:solidFill>
                <a:latin typeface="Aptos"/>
              </a:defRPr>
            </a:pPr>
            <a:r>
              <a:t>10 mentions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3867149"/>
            <a:ext cx="4476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4150E"/>
                </a:solidFill>
                <a:latin typeface="Aptos"/>
              </a:defRPr>
            </a:pPr>
            <a:r>
              <a:t>https://example.com/coverage/4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749" y="3867149"/>
            <a:ext cx="95249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83A18"/>
                </a:solidFill>
                <a:latin typeface="Aptos"/>
              </a:defRPr>
            </a:pPr>
            <a:r>
              <a:t>9 mentions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4457700"/>
            <a:ext cx="4476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4150E"/>
                </a:solidFill>
                <a:latin typeface="Aptos"/>
              </a:defRPr>
            </a:pPr>
            <a:r>
              <a:t>https://example.com/coverage/5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49" y="4457700"/>
            <a:ext cx="95249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83A18"/>
                </a:solidFill>
                <a:latin typeface="Aptos"/>
              </a:defRPr>
            </a:pPr>
            <a:r>
              <a:t>8 mentions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5048250"/>
            <a:ext cx="4476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4150E"/>
                </a:solidFill>
                <a:latin typeface="Aptos"/>
              </a:defRPr>
            </a:pPr>
            <a:r>
              <a:t>https://example.com/coverage/6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49" y="5048250"/>
            <a:ext cx="95249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83A18"/>
                </a:solidFill>
                <a:latin typeface="Aptos"/>
              </a:defRPr>
            </a:pPr>
            <a:r>
              <a:t>7 mentions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499" y="2095499"/>
            <a:ext cx="29527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83A18"/>
                </a:solidFill>
                <a:latin typeface="Aptos"/>
              </a:defRPr>
            </a:pPr>
            <a:r>
              <a:t>#demo1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0" y="2095499"/>
            <a:ext cx="16192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7C6256"/>
                </a:solidFill>
                <a:latin typeface="Aptos"/>
              </a:defRPr>
            </a:pPr>
            <a:r>
              <a:t>90  •  300K 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499" y="2552700"/>
            <a:ext cx="29527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83A18"/>
                </a:solidFill>
                <a:latin typeface="Aptos"/>
              </a:defRPr>
            </a:pPr>
            <a:r>
              <a:t>#demo2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0" y="2552700"/>
            <a:ext cx="16192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7C6256"/>
                </a:solidFill>
                <a:latin typeface="Aptos"/>
              </a:defRPr>
            </a:pPr>
            <a:r>
              <a:t>83  •  282K 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499" y="3009900"/>
            <a:ext cx="29527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83A18"/>
                </a:solidFill>
                <a:latin typeface="Aptos"/>
              </a:defRPr>
            </a:pPr>
            <a:r>
              <a:t>#demo3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0" y="3009900"/>
            <a:ext cx="16192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7C6256"/>
                </a:solidFill>
                <a:latin typeface="Aptos"/>
              </a:defRPr>
            </a:pPr>
            <a:r>
              <a:t>76  •  264K 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499" y="3467100"/>
            <a:ext cx="29527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83A18"/>
                </a:solidFill>
                <a:latin typeface="Aptos"/>
              </a:defRPr>
            </a:pPr>
            <a:r>
              <a:t>#demo4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0" y="3467100"/>
            <a:ext cx="16192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7C6256"/>
                </a:solidFill>
                <a:latin typeface="Aptos"/>
              </a:defRPr>
            </a:pPr>
            <a:r>
              <a:t>69  •  246K reach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499" y="3924299"/>
            <a:ext cx="29527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83A18"/>
                </a:solidFill>
                <a:latin typeface="Aptos"/>
              </a:defRPr>
            </a:pPr>
            <a:r>
              <a:t>#demo5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5500" y="3924299"/>
            <a:ext cx="16192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7C6256"/>
                </a:solidFill>
                <a:latin typeface="Aptos"/>
              </a:defRPr>
            </a:pPr>
            <a:r>
              <a:t>62  •  228K reach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7499" y="4381499"/>
            <a:ext cx="29527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83A18"/>
                </a:solidFill>
                <a:latin typeface="Aptos"/>
              </a:defRPr>
            </a:pPr>
            <a:r>
              <a:t>#demo6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5500" y="4381499"/>
            <a:ext cx="16192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7C6256"/>
                </a:solidFill>
                <a:latin typeface="Aptos"/>
              </a:defRPr>
            </a:pPr>
            <a:r>
              <a:t>55  •  210K reach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499" y="4838699"/>
            <a:ext cx="29527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83A18"/>
                </a:solidFill>
                <a:latin typeface="Aptos"/>
              </a:defRPr>
            </a:pPr>
            <a:r>
              <a:t>#demo7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5500" y="4838699"/>
            <a:ext cx="16192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7C6256"/>
                </a:solidFill>
                <a:latin typeface="Aptos"/>
              </a:defRPr>
            </a:pPr>
            <a:r>
              <a:t>48  •  192K reach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499" y="5295899"/>
            <a:ext cx="29527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83A18"/>
                </a:solidFill>
                <a:latin typeface="Aptos"/>
              </a:defRPr>
            </a:pPr>
            <a:r>
              <a:t>#demo8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0" y="5295899"/>
            <a:ext cx="16192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7C6256"/>
                </a:solidFill>
                <a:latin typeface="Aptos"/>
              </a:defRPr>
            </a:pPr>
            <a:r>
              <a:t>41  •  174K reach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6496049"/>
            <a:ext cx="10972800" cy="9525"/>
          </a:xfrm>
          <a:prstGeom prst="rect">
            <a:avLst/>
          </a:prstGeom>
          <a:solidFill>
            <a:srgbClr val="EC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6572250"/>
            <a:ext cx="80962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6256"/>
                </a:solidFill>
                <a:latin typeface="Aptos"/>
              </a:defRPr>
            </a:pPr>
            <a:r>
              <a:t>Demo Brand  •  2026-08-27 – 2026-09-02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8250" y="6572250"/>
            <a:ext cx="27241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C6256"/>
                </a:solidFill>
                <a:latin typeface="Aptos"/>
              </a:defRPr>
            </a:pPr>
            <a:r>
              <a:t>Zestar Media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04900"/>
          </a:xfrm>
          <a:prstGeom prst="rect">
            <a:avLst/>
          </a:prstGeom>
          <a:solidFill>
            <a:srgbClr val="B83A18"/>
          </a:solidFill>
          <a:ln>
            <a:solidFill>
              <a:srgbClr val="B83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9550"/>
            <a:ext cx="7810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9BD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66724"/>
            <a:ext cx="102870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Read the findings within the limits of the available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4250" y="523874"/>
            <a:ext cx="5143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1619250"/>
            <a:ext cx="4572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3A1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625" y="1619250"/>
            <a:ext cx="9334499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4150E"/>
                </a:solidFill>
                <a:latin typeface="Aptos"/>
              </a:defRPr>
            </a:pPr>
            <a:r>
              <a:t>Metrics are generated from a live monitoring snapshot for the selected project and reporting period.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495550"/>
            <a:ext cx="4572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3A1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" y="2495550"/>
            <a:ext cx="9334499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4150E"/>
                </a:solidFill>
                <a:latin typeface="Aptos"/>
              </a:defRPr>
            </a:pPr>
            <a:r>
              <a:t>Reach represents potential exposure and should not be interpreted as a unique-audience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371850"/>
            <a:ext cx="4572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3A1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1625" y="3371850"/>
            <a:ext cx="9334499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4150E"/>
                </a:solidFill>
                <a:latin typeface="Aptos"/>
              </a:defRPr>
            </a:pPr>
            <a:r>
              <a:t>Individual mentions do not include per-post reach, likes, comments or shares; featured coverage is representative, not performance-ranked.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4248150"/>
            <a:ext cx="4572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3A1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1625" y="4248150"/>
            <a:ext cx="9334499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4150E"/>
                </a:solidFill>
                <a:latin typeface="Aptos"/>
              </a:defRPr>
            </a:pPr>
            <a:r>
              <a:t>Facebook, Instagram and X may restrict post text or source links in API responses.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5124449"/>
            <a:ext cx="4572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3A1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1625" y="5124449"/>
            <a:ext cx="9334499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4150E"/>
                </a:solidFill>
                <a:latin typeface="Aptos"/>
              </a:defRPr>
            </a:pPr>
            <a:r>
              <a:t>All mention pages returned by the monitoring service for this period were included.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6496049"/>
            <a:ext cx="10972800" cy="9525"/>
          </a:xfrm>
          <a:prstGeom prst="rect">
            <a:avLst/>
          </a:prstGeom>
          <a:solidFill>
            <a:srgbClr val="EC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6572250"/>
            <a:ext cx="80962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6256"/>
                </a:solidFill>
                <a:latin typeface="Aptos"/>
              </a:defRPr>
            </a:pPr>
            <a:r>
              <a:t>Demo Brand  •  2026-08-27 – 2026-09-02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0" y="6572250"/>
            <a:ext cx="27241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C6256"/>
                </a:solidFill>
                <a:latin typeface="Aptos"/>
              </a:defRPr>
            </a:pPr>
            <a:r>
              <a:t>Zestar Media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