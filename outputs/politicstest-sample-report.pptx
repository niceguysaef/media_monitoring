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93ae317ebb423b" /><Relationship Type="http://schemas.openxmlformats.org/officeDocument/2006/relationships/extended-properties" Target="/docProps/app.xml" Id="Rafd480bbf0c64904" /><Relationship Type="http://schemas.openxmlformats.org/officeDocument/2006/relationships/officeDocument" Target="/ppt/presentation.xml" Id="R403b3ed4b4bf41b3" /></Relationships>
</file>

<file path=ppt/presentation.xml><?xml version="1.0" encoding="utf-8"?>
<p:presentation xmlns:p="http://schemas.openxmlformats.org/presentationml/2006/main">
  <p:sldMasterIdLst>
    <p:sldMasterId xmlns:r="http://schemas.openxmlformats.org/officeDocument/2006/relationships" id="2147483648" r:id="R6227245bc88943e7"/>
  </p:sldMasterIdLst>
  <p:notesMasterIdLst>
    <p:notesMasterId xmlns:r="http://schemas.openxmlformats.org/officeDocument/2006/relationships" r:id="R9cf62bdc79c1427c"/>
  </p:notesMasterIdLst>
  <p:sldIdLst>
    <p:sldId xmlns:r="http://schemas.openxmlformats.org/officeDocument/2006/relationships" id="256" r:id="R27bb8494ae0747ff"/>
    <p:sldId xmlns:r="http://schemas.openxmlformats.org/officeDocument/2006/relationships" id="257" r:id="R4d7c7365342e4631"/>
    <p:sldId xmlns:r="http://schemas.openxmlformats.org/officeDocument/2006/relationships" id="258" r:id="Rd1bb5101fa6e4d54"/>
    <p:sldId xmlns:r="http://schemas.openxmlformats.org/officeDocument/2006/relationships" id="259" r:id="R28bba4fb58544cb1"/>
    <p:sldId xmlns:r="http://schemas.openxmlformats.org/officeDocument/2006/relationships" id="260" r:id="R358d0c6bdee147e6"/>
    <p:sldId xmlns:r="http://schemas.openxmlformats.org/officeDocument/2006/relationships" id="261" r:id="R9259eedb810a4842"/>
    <p:sldId xmlns:r="http://schemas.openxmlformats.org/officeDocument/2006/relationships" id="262" r:id="Rfe5ff0d81e78414b"/>
    <p:sldId xmlns:r="http://schemas.openxmlformats.org/officeDocument/2006/relationships" id="263" r:id="R9032ed77c7c74454"/>
    <p:sldId xmlns:r="http://schemas.openxmlformats.org/officeDocument/2006/relationships" id="264" r:id="Re7f1b276246149e6"/>
    <p:sldId xmlns:r="http://schemas.openxmlformats.org/officeDocument/2006/relationships" id="265" r:id="R142a35b0ab044d4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6452fe04f44507" /><Relationship Type="http://schemas.openxmlformats.org/officeDocument/2006/relationships/slideMaster" Target="/ppt/slideMasters/slideMaster1.xml" Id="R6227245bc88943e7" /><Relationship Type="http://schemas.openxmlformats.org/officeDocument/2006/relationships/notesMaster" Target="/ppt/notesMasters/notesMaster1.xml" Id="R9cf62bdc79c1427c" /><Relationship Type="http://schemas.openxmlformats.org/officeDocument/2006/relationships/presProps" Target="/ppt/presProps.xml" Id="R6bbacd816dc944bc" /><Relationship Type="http://schemas.openxmlformats.org/officeDocument/2006/relationships/tableStyles" Target="/ppt/tableStyles.xml" Id="R9ecd5d5a44c94e5b" /><Relationship Type="http://schemas.openxmlformats.org/officeDocument/2006/relationships/slide" Target="/ppt/slides/slide1.xml" Id="R27bb8494ae0747ff" /><Relationship Type="http://schemas.openxmlformats.org/officeDocument/2006/relationships/slide" Target="/ppt/slides/slide2.xml" Id="R4d7c7365342e4631" /><Relationship Type="http://schemas.openxmlformats.org/officeDocument/2006/relationships/slide" Target="/ppt/slides/slide3.xml" Id="Rd1bb5101fa6e4d54" /><Relationship Type="http://schemas.openxmlformats.org/officeDocument/2006/relationships/slide" Target="/ppt/slides/slide4.xml" Id="R28bba4fb58544cb1" /><Relationship Type="http://schemas.openxmlformats.org/officeDocument/2006/relationships/slide" Target="/ppt/slides/slide5.xml" Id="R358d0c6bdee147e6" /><Relationship Type="http://schemas.openxmlformats.org/officeDocument/2006/relationships/slide" Target="/ppt/slides/slide6.xml" Id="R9259eedb810a4842" /><Relationship Type="http://schemas.openxmlformats.org/officeDocument/2006/relationships/slide" Target="/ppt/slides/slide7.xml" Id="Rfe5ff0d81e78414b" /><Relationship Type="http://schemas.openxmlformats.org/officeDocument/2006/relationships/slide" Target="/ppt/slides/slide8.xml" Id="R9032ed77c7c74454" /><Relationship Type="http://schemas.openxmlformats.org/officeDocument/2006/relationships/slide" Target="/ppt/slides/slide9.xml" Id="Re7f1b276246149e6" /><Relationship Type="http://schemas.openxmlformats.org/officeDocument/2006/relationships/slide" Target="/ppt/slides/slide10.xml" Id="R142a35b0ab044d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e5ff3fce8545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71a57d5da344e3" /><Relationship Type="http://schemas.openxmlformats.org/officeDocument/2006/relationships/notesMaster" Target="/ppt/notesMasters/notesMaster1.xml" Id="R04490bc159cc4f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908438a5b34303" /><Relationship Type="http://schemas.openxmlformats.org/officeDocument/2006/relationships/notesMaster" Target="/ppt/notesMasters/notesMaster1.xml" Id="R6e839ee9a66e48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3ccf45ef6f4004" /><Relationship Type="http://schemas.openxmlformats.org/officeDocument/2006/relationships/notesMaster" Target="/ppt/notesMasters/notesMaster1.xml" Id="Rafdb3a78843a4a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9702e0b7994329" /><Relationship Type="http://schemas.openxmlformats.org/officeDocument/2006/relationships/notesMaster" Target="/ppt/notesMasters/notesMaster1.xml" Id="R8387c267b21445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2df8fdd428492b" /><Relationship Type="http://schemas.openxmlformats.org/officeDocument/2006/relationships/notesMaster" Target="/ppt/notesMasters/notesMaster1.xml" Id="Re2ae68a9a11a49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348869647e49cb" /><Relationship Type="http://schemas.openxmlformats.org/officeDocument/2006/relationships/notesMaster" Target="/ppt/notesMasters/notesMaster1.xml" Id="R37411aab9d1646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bd78415a8b45b3" /><Relationship Type="http://schemas.openxmlformats.org/officeDocument/2006/relationships/notesMaster" Target="/ppt/notesMasters/notesMaster1.xml" Id="Rd50e57ec10d949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61f370eb6b4e59" /><Relationship Type="http://schemas.openxmlformats.org/officeDocument/2006/relationships/notesMaster" Target="/ppt/notesMasters/notesMaster1.xml" Id="R77bbdea0bf1f4d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ea62803a7a416b" /><Relationship Type="http://schemas.openxmlformats.org/officeDocument/2006/relationships/notesMaster" Target="/ppt/notesMasters/notesMaster1.xml" Id="R7bea18dc8bb844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0e35c235ed4db5" /><Relationship Type="http://schemas.openxmlformats.org/officeDocument/2006/relationships/notesMaster" Target="/ppt/notesMasters/notesMaster1.xml" Id="Rf1362cbfefdd48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948a23036541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0a444fe73e47e1" /><Relationship Type="http://schemas.openxmlformats.org/officeDocument/2006/relationships/slideLayout" Target="/ppt/slideLayouts/slideLayout1.xml" Id="Rb4473a9eaed943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73a9eaed943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4b8d5605d4471f" /><Relationship Type="http://schemas.openxmlformats.org/officeDocument/2006/relationships/notesSlide" Target="/ppt/notesSlides/notesSlide1.xml" Id="R09351486638a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fb94cc4c5f4871" /><Relationship Type="http://schemas.openxmlformats.org/officeDocument/2006/relationships/notesSlide" Target="/ppt/notesSlides/notesSlide2.xml" Id="Rf52722ad29c640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397411ec3c4ba1" /><Relationship Type="http://schemas.openxmlformats.org/officeDocument/2006/relationships/chart" Target="/ppt/slides/charts/chart1.xml" Id="R9f06ce84ff1b4d1d" /><Relationship Type="http://schemas.openxmlformats.org/officeDocument/2006/relationships/chart" Target="/ppt/slides/charts/chart2.xml" Id="Rab0cb2c66ef8472e" /><Relationship Type="http://schemas.openxmlformats.org/officeDocument/2006/relationships/notesSlide" Target="/ppt/notesSlides/notesSlide3.xml" Id="R7792e49697b94c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b1c45eb2bd4817" /><Relationship Type="http://schemas.openxmlformats.org/officeDocument/2006/relationships/chart" Target="/ppt/slides/charts/chart3.xml" Id="Rc0d37ec0632b4c91" /><Relationship Type="http://schemas.openxmlformats.org/officeDocument/2006/relationships/notesSlide" Target="/ppt/notesSlides/notesSlide4.xml" Id="R74b45211096442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18e4cd13294d61" /><Relationship Type="http://schemas.openxmlformats.org/officeDocument/2006/relationships/notesSlide" Target="/ppt/notesSlides/notesSlide5.xml" Id="Re0a2c85c3fc145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72af00588d4ab7" /><Relationship Type="http://schemas.openxmlformats.org/officeDocument/2006/relationships/chart" Target="/ppt/slides/charts/chart4.xml" Id="R950426ac972840cb" /><Relationship Type="http://schemas.openxmlformats.org/officeDocument/2006/relationships/notesSlide" Target="/ppt/notesSlides/notesSlide6.xml" Id="R5da1e024e4684e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148d5f10144dd1" /><Relationship Type="http://schemas.openxmlformats.org/officeDocument/2006/relationships/notesSlide" Target="/ppt/notesSlides/notesSlide7.xml" Id="Rc19921b8917a4e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b9603059ae4997" /><Relationship Type="http://schemas.openxmlformats.org/officeDocument/2006/relationships/notesSlide" Target="/ppt/notesSlides/notesSlide8.xml" Id="R423e5dacb75942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23122fb8874813" /><Relationship Type="http://schemas.openxmlformats.org/officeDocument/2006/relationships/notesSlide" Target="/ppt/notesSlides/notesSlide9.xml" Id="Ra8197c09f5ed4e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5b2780df6e420a" /><Relationship Type="http://schemas.openxmlformats.org/officeDocument/2006/relationships/notesSlide" Target="/ppt/notesSlides/notesSlide10.xml" Id="R0cde227ed7db4d1a" /></Relationships>
</file>

<file path=ppt/slides/charts/chart1.xml><?xml version="1.0" encoding="utf-8"?>
<c:chartSpace xmlns:c="http://schemas.openxmlformats.org/drawingml/2006/chart">
  <c:lang val="en-US"/>
  <c:chart>
    <c:plotArea>
      <c:lineChart>
        <c:grouping val="standard"/>
        <c:ser>
          <c:idx val="0"/>
          <c:order val="0"/>
          <c:tx>
            <c:v>Mentions</c:v>
          </c:tx>
          <c:spPr>
            <a:ln xmlns:a="http://schemas.openxmlformats.org/drawingml/2006/main" w="38100">
              <a:solidFill>
                <a:srgbClr val="B83A18"/>
              </a:solidFill>
              <a:prstDash val="solid"/>
            </a:ln>
          </c:spPr>
          <c:marker>
            <c:symbol val="circle"/>
            <c:size val="7"/>
          </c:marker>
          <c:cat>
            <c:strLit>
              <c:ptCount val="7"/>
              <c:pt idx="0">
                <c:v>Aug 27</c:v>
              </c:pt>
              <c:pt idx="1">
                <c:v>Aug 28</c:v>
              </c:pt>
              <c:pt idx="2">
                <c:v>Aug 29</c:v>
              </c:pt>
              <c:pt idx="3">
                <c:v>Aug 30</c:v>
              </c:pt>
              <c:pt idx="4">
                <c:v>Aug 31</c:v>
              </c:pt>
              <c:pt idx="5">
                <c:v>Sep 1</c:v>
              </c:pt>
              <c:pt idx="6">
                <c:v>Sep 2</c:v>
              </c:pt>
            </c:strLit>
          </c:cat>
          <c:val>
            <c:numLit>
              <c:formatCode>General</c:formatCode>
              <c:ptCount val="7"/>
              <c:pt idx="0">
                <c:v>119</c:v>
              </c:pt>
              <c:pt idx="1">
                <c:v>231</c:v>
              </c:pt>
              <c:pt idx="2">
                <c:v>184</c:v>
              </c:pt>
              <c:pt idx="3">
                <c:v>168</c:v>
              </c:pt>
              <c:pt idx="4">
                <c:v>190</c:v>
              </c:pt>
              <c:pt idx="5">
                <c:v>130</c:v>
              </c:pt>
              <c:pt idx="6">
                <c:v>13</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CD6C7"/>
            </a:solidFill>
            <a:prstDash val="solid"/>
          </a:ln>
        </c:spPr>
        <c:txPr>
          <a:bodyPr xmlns:a="http://schemas.openxmlformats.org/drawingml/2006/main" anchorCtr="1"/>
          <a:lstStyle xmlns:a="http://schemas.openxmlformats.org/drawingml/2006/main"/>
          <a:p xmlns:a="http://schemas.openxmlformats.org/drawingml/2006/main">
            <a:pPr>
              <a:defRPr sz="1050">
                <a:solidFill>
                  <a:srgbClr val="7C6256"/>
                </a:solidFill>
              </a:defRPr>
            </a:pPr>
          </a:p>
        </c:txPr>
        <c:crossAx val="48672768"/>
        <c:lblAlgn val="ctr"/>
        <c:lblOffset val="100"/>
        <c:noMultiLvlLbl val="0"/>
      </c:catAx>
      <c:valAx>
        <c:axId val="48672768"/>
        <c:scaling>
          <c:orientation val="minMax"/>
          <c:min val="0"/>
        </c:scaling>
        <c:delete val="0"/>
        <c:axPos val="l"/>
        <c:majorGridlines>
          <c:spPr>
            <a:ln xmlns:a="http://schemas.openxmlformats.org/drawingml/2006/main" w="9525">
              <a:solidFill>
                <a:srgbClr val="ECD6C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7C6256"/>
                </a:solidFill>
              </a:defRPr>
            </a:pPr>
          </a:p>
        </c:txPr>
        <c:crossAx val="48650112"/>
        <c:crossBetween val="between"/>
      </c:valAx>
    </c:plotArea>
    <c:plotVisOnly val="1"/>
  </c:chart>
  <c:spPr>
    <a:solidFill xmlns:a="http://schemas.openxmlformats.org/drawingml/2006/main">
      <a:srgbClr val="FFFAF6"/>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lineChart>
        <c:grouping val="standard"/>
        <c:ser>
          <c:idx val="0"/>
          <c:order val="0"/>
          <c:tx>
            <c:v>Engagement</c:v>
          </c:tx>
          <c:spPr>
            <a:ln xmlns:a="http://schemas.openxmlformats.org/drawingml/2006/main" w="38100">
              <a:solidFill>
                <a:srgbClr val="ECA81A"/>
              </a:solidFill>
              <a:prstDash val="solid"/>
            </a:ln>
          </c:spPr>
          <c:marker>
            <c:symbol val="circle"/>
            <c:size val="7"/>
          </c:marker>
          <c:cat>
            <c:strLit>
              <c:ptCount val="7"/>
              <c:pt idx="0">
                <c:v>Aug 27</c:v>
              </c:pt>
              <c:pt idx="1">
                <c:v>Aug 28</c:v>
              </c:pt>
              <c:pt idx="2">
                <c:v>Aug 29</c:v>
              </c:pt>
              <c:pt idx="3">
                <c:v>Aug 30</c:v>
              </c:pt>
              <c:pt idx="4">
                <c:v>Aug 31</c:v>
              </c:pt>
              <c:pt idx="5">
                <c:v>Sep 1</c:v>
              </c:pt>
              <c:pt idx="6">
                <c:v>Sep 2</c:v>
              </c:pt>
            </c:strLit>
          </c:cat>
          <c:val>
            <c:numLit>
              <c:formatCode>General</c:formatCode>
              <c:ptCount val="7"/>
              <c:pt idx="0">
                <c:v>39908</c:v>
              </c:pt>
              <c:pt idx="1">
                <c:v>22813</c:v>
              </c:pt>
              <c:pt idx="2">
                <c:v>29603</c:v>
              </c:pt>
              <c:pt idx="3">
                <c:v>22320</c:v>
              </c:pt>
              <c:pt idx="4">
                <c:v>45788</c:v>
              </c:pt>
              <c:pt idx="5">
                <c:v>12957</c:v>
              </c:pt>
              <c:pt idx="6">
                <c:v>6</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CD6C7"/>
            </a:solidFill>
            <a:prstDash val="solid"/>
          </a:ln>
        </c:spPr>
        <c:txPr>
          <a:bodyPr xmlns:a="http://schemas.openxmlformats.org/drawingml/2006/main" anchorCtr="1"/>
          <a:lstStyle xmlns:a="http://schemas.openxmlformats.org/drawingml/2006/main"/>
          <a:p xmlns:a="http://schemas.openxmlformats.org/drawingml/2006/main">
            <a:pPr>
              <a:defRPr sz="1050">
                <a:solidFill>
                  <a:srgbClr val="7C6256"/>
                </a:solidFill>
              </a:defRPr>
            </a:pPr>
          </a:p>
        </c:txPr>
        <c:crossAx val="48672768"/>
        <c:lblAlgn val="ctr"/>
        <c:lblOffset val="100"/>
        <c:noMultiLvlLbl val="0"/>
      </c:catAx>
      <c:valAx>
        <c:axId val="48672768"/>
        <c:scaling>
          <c:orientation val="minMax"/>
          <c:min val="0"/>
        </c:scaling>
        <c:delete val="0"/>
        <c:axPos val="l"/>
        <c:majorGridlines>
          <c:spPr>
            <a:ln xmlns:a="http://schemas.openxmlformats.org/drawingml/2006/main" w="9525">
              <a:solidFill>
                <a:srgbClr val="ECD6C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7C6256"/>
                </a:solidFill>
              </a:defRPr>
            </a:pPr>
          </a:p>
        </c:txPr>
        <c:crossAx val="48650112"/>
        <c:crossBetween val="between"/>
      </c:valAx>
    </c:plotArea>
    <c:plotVisOnly val="1"/>
  </c:chart>
  <c:spPr>
    <a:solidFill xmlns:a="http://schemas.openxmlformats.org/drawingml/2006/main">
      <a:srgbClr val="FFFAF6"/>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Mentions</c:v>
          </c:tx>
          <c:spPr>
            <a:solidFill xmlns:a="http://schemas.openxmlformats.org/drawingml/2006/main">
              <a:srgbClr val="ED6E1F"/>
            </a:solidFill>
          </c:spPr>
          <c:cat>
            <c:strLit>
              <c:ptCount val="6"/>
              <c:pt idx="0">
                <c:v>YouTube</c:v>
              </c:pt>
              <c:pt idx="1">
                <c:v>X / Twitter</c:v>
              </c:pt>
              <c:pt idx="2">
                <c:v>TikTok</c:v>
              </c:pt>
              <c:pt idx="3">
                <c:v>News</c:v>
              </c:pt>
              <c:pt idx="4">
                <c:v>Reddit</c:v>
              </c:pt>
              <c:pt idx="5">
                <c:v>Other</c:v>
              </c:pt>
            </c:strLit>
          </c:cat>
          <c:val>
            <c:numLit>
              <c:formatCode>General</c:formatCode>
              <c:ptCount val="6"/>
              <c:pt idx="0">
                <c:v>509</c:v>
              </c:pt>
              <c:pt idx="1">
                <c:v>172</c:v>
              </c:pt>
              <c:pt idx="2">
                <c:v>143</c:v>
              </c:pt>
              <c:pt idx="3">
                <c:v>126</c:v>
              </c:pt>
              <c:pt idx="4">
                <c:v>63</c:v>
              </c:pt>
              <c:pt idx="5">
                <c:v>30</c:v>
              </c:pt>
            </c:numLit>
          </c:val>
        </c:ser>
        <c:dLbls>
          <c:txPr>
            <a:bodyPr xmlns:a="http://schemas.openxmlformats.org/drawingml/2006/main" anchorCtr="1"/>
            <a:lstStyle xmlns:a="http://schemas.openxmlformats.org/drawingml/2006/main"/>
            <a:p xmlns:a="http://schemas.openxmlformats.org/drawingml/2006/main">
              <a:pPr>
                <a:defRPr sz="1050" b="1">
                  <a:solidFill>
                    <a:srgbClr val="24150E"/>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CD6C7"/>
            </a:solidFill>
            <a:prstDash val="solid"/>
          </a:ln>
        </c:spPr>
        <c:txPr>
          <a:bodyPr xmlns:a="http://schemas.openxmlformats.org/drawingml/2006/main" anchorCtr="1"/>
          <a:lstStyle xmlns:a="http://schemas.openxmlformats.org/drawingml/2006/main"/>
          <a:p xmlns:a="http://schemas.openxmlformats.org/drawingml/2006/main">
            <a:pPr>
              <a:defRPr sz="1050">
                <a:solidFill>
                  <a:srgbClr val="24150E"/>
                </a:solidFill>
              </a:defRPr>
            </a:pPr>
          </a:p>
        </c:txPr>
        <c:crossAx val="48672768"/>
        <c:lblAlgn val="ctr"/>
        <c:lblOffset val="100"/>
        <c:noMultiLvlLbl val="0"/>
      </c:catAx>
      <c:valAx>
        <c:axId val="48672768"/>
        <c:scaling>
          <c:orientation val="minMax"/>
          <c:min val="0"/>
        </c:scaling>
        <c:delete val="0"/>
        <c:axPos val="l"/>
        <c:majorGridlines>
          <c:spPr>
            <a:ln xmlns:a="http://schemas.openxmlformats.org/drawingml/2006/main" w="9525">
              <a:solidFill>
                <a:srgbClr val="ECD6C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7C6256"/>
                </a:solidFill>
              </a:defRPr>
            </a:pPr>
          </a:p>
        </c:txPr>
        <c:crossAx val="48650112"/>
        <c:crossBetween val="between"/>
      </c:valAx>
    </c:plotArea>
    <c:plotVisOnly val="1"/>
  </c:chart>
  <c:spPr>
    <a:solidFill xmlns:a="http://schemas.openxmlformats.org/drawingml/2006/main">
      <a:srgbClr val="FFFAF6"/>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Share of voice</c:v>
          </c:tx>
          <c:spPr>
            <a:solidFill xmlns:a="http://schemas.openxmlformats.org/drawingml/2006/main">
              <a:srgbClr val="ED6E1F"/>
            </a:solidFill>
          </c:spPr>
          <c:cat>
            <c:strLit>
              <c:ptCount val="6"/>
              <c:pt idx="0">
                <c:v>Malaysian Political Social Posts</c:v>
              </c:pt>
              <c:pt idx="1">
                <c:v>Malaysian Political Landscape</c:v>
              </c:pt>
              <c:pt idx="2">
                <c:v>Tabung Haji RCI Scandal</c:v>
              </c:pt>
              <c:pt idx="3">
                <c:v>BN-PN Electoral Cooperation</c:v>
              </c:pt>
              <c:pt idx="4">
                <c:v>Critical UMNO Opinions</c:v>
              </c:pt>
              <c:pt idx="5">
                <c:v>UMNO Youth Movement</c:v>
              </c:pt>
            </c:strLit>
          </c:cat>
          <c:val>
            <c:numLit>
              <c:formatCode>General</c:formatCode>
              <c:ptCount val="6"/>
              <c:pt idx="0">
                <c:v>38.35</c:v>
              </c:pt>
              <c:pt idx="1">
                <c:v>32.93</c:v>
              </c:pt>
              <c:pt idx="2">
                <c:v>12.54</c:v>
              </c:pt>
              <c:pt idx="3">
                <c:v>7.02</c:v>
              </c:pt>
              <c:pt idx="4">
                <c:v>3.42</c:v>
              </c:pt>
              <c:pt idx="5">
                <c:v>3.12</c:v>
              </c:pt>
            </c:numLit>
          </c:val>
        </c:ser>
        <c:dLbls>
          <c:txPr>
            <a:bodyPr xmlns:a="http://schemas.openxmlformats.org/drawingml/2006/main" anchorCtr="1"/>
            <a:lstStyle xmlns:a="http://schemas.openxmlformats.org/drawingml/2006/main"/>
            <a:p xmlns:a="http://schemas.openxmlformats.org/drawingml/2006/main">
              <a:pPr>
                <a:defRPr sz="1050" b="1">
                  <a:solidFill>
                    <a:srgbClr val="24150E"/>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CD6C7"/>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7C625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24150E"/>
                </a:solidFill>
              </a:defRPr>
            </a:pPr>
          </a:p>
        </c:txPr>
        <c:crossAx val="48650112"/>
        <c:crossBetween val="between"/>
      </c:valAx>
    </c:plotArea>
    <c:plotVisOnly val="1"/>
  </c:chart>
  <c:spPr>
    <a:solidFill xmlns:a="http://schemas.openxmlformats.org/drawingml/2006/main">
      <a:srgbClr val="FFFAF6"/>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60B995-85EF-4793-BFC7-6ADDDF2D91AC}"/>
              </a:ext>
            </a:extLst>
          </p:cNvPr>
          <p:cNvSpPr>
            <a:spLocks xmlns:a="http://schemas.openxmlformats.org/drawingml/2006/main" noGrp="1"/>
          </p:cNvSpPr>
          <p:nvPr/>
        </p:nvSpPr>
        <p:spPr>
          <a:xfrm xmlns:a="http://schemas.openxmlformats.org/drawingml/2006/main">
            <a:off x="0" y="0"/>
            <a:ext cx="7524750" cy="68580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B9E86E-868B-419E-9414-3AD4C977C0EA}"/>
              </a:ext>
            </a:extLst>
          </p:cNvPr>
          <p:cNvSpPr>
            <a:spLocks xmlns:a="http://schemas.openxmlformats.org/drawingml/2006/main" noGrp="1"/>
          </p:cNvSpPr>
          <p:nvPr/>
        </p:nvSpPr>
        <p:spPr>
          <a:xfrm xmlns:a="http://schemas.openxmlformats.org/drawingml/2006/main">
            <a:off x="7524750" y="0"/>
            <a:ext cx="4667250" cy="6858000"/>
          </a:xfrm>
          <a:prstGeom xmlns:a="http://schemas.openxmlformats.org/drawingml/2006/main" prst="rect">
            <a:avLst/>
          </a:prstGeom>
          <a:solidFill xmlns:a="http://schemas.openxmlformats.org/drawingml/2006/main">
            <a:srgbClr val="ECA8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F9D9512-982D-479B-971C-A13A55B4C3E0}"/>
              </a:ext>
            </a:extLst>
          </p:cNvPr>
          <p:cNvSpPr>
            <a:spLocks xmlns:a="http://schemas.openxmlformats.org/drawingml/2006/main" noGrp="1"/>
          </p:cNvSpPr>
          <p:nvPr/>
        </p:nvSpPr>
        <p:spPr>
          <a:xfrm xmlns:a="http://schemas.openxmlformats.org/drawingml/2006/main">
            <a:off x="647700" y="7239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D9BD"/>
                </a:solidFill>
              </a:defRPr>
            </a:pPr>
            <a:r>
              <a:rPr sz="1350" b="1">
                <a:solidFill>
                  <a:srgbClr val="FFD9BD"/>
                </a:solidFill>
              </a:rPr>
              <a:t>MEDIA INTELLIGENCE</a:t>
            </a:r>
          </a:p>
        </p:txBody>
      </p:sp>
      <p:sp>
        <p:nvSpPr>
          <p:cNvPr id="4" name="cover-title">
            <a:extLst xmlns:a="http://schemas.openxmlformats.org/drawingml/2006/main">
              <a:ext uri="{FF2B5EF4-FFF2-40B4-BE49-F238E27FC236}">
                <a16:creationId xmlns:a16="http://schemas.microsoft.com/office/drawing/2014/main" id="{C421250E-3898-41C2-BEAD-C423E8F563E7}"/>
              </a:ext>
            </a:extLst>
          </p:cNvPr>
          <p:cNvSpPr>
            <a:spLocks xmlns:a="http://schemas.openxmlformats.org/drawingml/2006/main" noGrp="1"/>
          </p:cNvSpPr>
          <p:nvPr/>
        </p:nvSpPr>
        <p:spPr>
          <a:xfrm xmlns:a="http://schemas.openxmlformats.org/drawingml/2006/main">
            <a:off x="647700" y="1524000"/>
            <a:ext cx="619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PoliticsTest Media Intelligence</a:t>
            </a:r>
          </a:p>
        </p:txBody>
      </p:sp>
      <p:sp>
        <p:nvSpPr>
          <p:cNvPr id="5" name="">
            <a:extLst xmlns:a="http://schemas.openxmlformats.org/drawingml/2006/main">
              <a:ext uri="{FF2B5EF4-FFF2-40B4-BE49-F238E27FC236}">
                <a16:creationId xmlns:a16="http://schemas.microsoft.com/office/drawing/2014/main" id="{6167F83D-FEA8-432A-BA89-24E064E60CCC}"/>
              </a:ext>
            </a:extLst>
          </p:cNvPr>
          <p:cNvSpPr>
            <a:spLocks xmlns:a="http://schemas.openxmlformats.org/drawingml/2006/main" noGrp="1"/>
          </p:cNvSpPr>
          <p:nvPr/>
        </p:nvSpPr>
        <p:spPr>
          <a:xfrm xmlns:a="http://schemas.openxmlformats.org/drawingml/2006/main">
            <a:off x="647700" y="3562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defRPr>
            </a:pPr>
            <a:r>
              <a:rPr sz="2100" b="1">
                <a:solidFill>
                  <a:srgbClr val="FFFFFF"/>
                </a:solidFill>
              </a:rPr>
              <a:t>PoliticsTest</a:t>
            </a:r>
          </a:p>
        </p:txBody>
      </p:sp>
      <p:sp>
        <p:nvSpPr>
          <p:cNvPr id="6" name="">
            <a:extLst xmlns:a="http://schemas.openxmlformats.org/drawingml/2006/main">
              <a:ext uri="{FF2B5EF4-FFF2-40B4-BE49-F238E27FC236}">
                <a16:creationId xmlns:a16="http://schemas.microsoft.com/office/drawing/2014/main" id="{F4585C78-A535-4F7A-979F-EC48A56EF80B}"/>
              </a:ext>
            </a:extLst>
          </p:cNvPr>
          <p:cNvSpPr>
            <a:spLocks xmlns:a="http://schemas.openxmlformats.org/drawingml/2006/main" noGrp="1"/>
          </p:cNvSpPr>
          <p:nvPr/>
        </p:nvSpPr>
        <p:spPr>
          <a:xfrm xmlns:a="http://schemas.openxmlformats.org/drawingml/2006/main">
            <a:off x="647700" y="41719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E8D7"/>
                </a:solidFill>
              </a:defRPr>
            </a:pPr>
            <a:r>
              <a:rPr sz="1500" b="0">
                <a:solidFill>
                  <a:srgbClr val="FFE8D7"/>
                </a:solidFill>
              </a:rPr>
              <a:t>2026-08-27  –  2026-09-02</a:t>
            </a:r>
          </a:p>
        </p:txBody>
      </p:sp>
      <p:sp>
        <p:nvSpPr>
          <p:cNvPr id="7" name="">
            <a:extLst xmlns:a="http://schemas.openxmlformats.org/drawingml/2006/main">
              <a:ext uri="{FF2B5EF4-FFF2-40B4-BE49-F238E27FC236}">
                <a16:creationId xmlns:a16="http://schemas.microsoft.com/office/drawing/2014/main" id="{DB519D0D-C8BA-449B-AC59-B72C919A8E12}"/>
              </a:ext>
            </a:extLst>
          </p:cNvPr>
          <p:cNvSpPr>
            <a:spLocks xmlns:a="http://schemas.openxmlformats.org/drawingml/2006/main" noGrp="1"/>
          </p:cNvSpPr>
          <p:nvPr/>
        </p:nvSpPr>
        <p:spPr>
          <a:xfrm xmlns:a="http://schemas.openxmlformats.org/drawingml/2006/main">
            <a:off x="8096250" y="23431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4150E"/>
                </a:solidFill>
              </a:defRPr>
            </a:pPr>
            <a:r>
              <a:rPr sz="2100" b="1">
                <a:solidFill>
                  <a:srgbClr val="24150E"/>
                </a:solidFill>
              </a:rPr>
              <a:t>Client Review</a:t>
            </a:r>
          </a:p>
        </p:txBody>
      </p:sp>
      <p:sp>
        <p:nvSpPr>
          <p:cNvPr id="8" name="">
            <a:extLst xmlns:a="http://schemas.openxmlformats.org/drawingml/2006/main">
              <a:ext uri="{FF2B5EF4-FFF2-40B4-BE49-F238E27FC236}">
                <a16:creationId xmlns:a16="http://schemas.microsoft.com/office/drawing/2014/main" id="{86942342-6E17-44C4-B7CA-9552EC64149D}"/>
              </a:ext>
            </a:extLst>
          </p:cNvPr>
          <p:cNvSpPr>
            <a:spLocks xmlns:a="http://schemas.openxmlformats.org/drawingml/2006/main" noGrp="1"/>
          </p:cNvSpPr>
          <p:nvPr/>
        </p:nvSpPr>
        <p:spPr>
          <a:xfrm xmlns:a="http://schemas.openxmlformats.org/drawingml/2006/main">
            <a:off x="8096250" y="3524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24150E"/>
                </a:solidFill>
              </a:defRPr>
            </a:pPr>
            <a:r>
              <a:rPr sz="1350" b="0">
                <a:solidFill>
                  <a:srgbClr val="24150E"/>
                </a:solidFill>
              </a:rPr>
              <a:t>Live monitoring snapshot</a:t>
            </a:r>
          </a:p>
        </p:txBody>
      </p:sp>
      <p:sp>
        <p:nvSpPr>
          <p:cNvPr id="9" name="">
            <a:extLst xmlns:a="http://schemas.openxmlformats.org/drawingml/2006/main">
              <a:ext uri="{FF2B5EF4-FFF2-40B4-BE49-F238E27FC236}">
                <a16:creationId xmlns:a16="http://schemas.microsoft.com/office/drawing/2014/main" id="{4ECDEA03-53A0-4CF5-B9CC-701F0EBF7B1D}"/>
              </a:ext>
            </a:extLst>
          </p:cNvPr>
          <p:cNvSpPr>
            <a:spLocks xmlns:a="http://schemas.openxmlformats.org/drawingml/2006/main" noGrp="1"/>
          </p:cNvSpPr>
          <p:nvPr/>
        </p:nvSpPr>
        <p:spPr>
          <a:xfrm xmlns:a="http://schemas.openxmlformats.org/drawingml/2006/main">
            <a:off x="8096250" y="59817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24150E"/>
                </a:solidFill>
              </a:defRPr>
            </a:pPr>
            <a:r>
              <a:rPr sz="1200" b="1">
                <a:solidFill>
                  <a:srgbClr val="24150E"/>
                </a:solidFill>
              </a:rPr>
              <a:t>Zestar Media Intelligence</a:t>
            </a:r>
          </a:p>
        </p:txBody>
      </p:sp>
    </p:spTree>
    <p:extLst>
      <p:ext uri="{BB962C8B-B14F-4D97-AF65-F5344CB8AC3E}">
        <p14:creationId xmlns:p14="http://schemas.microsoft.com/office/powerpoint/2010/main" val="284833276"/>
      </p:ext>
    </p:extLst>
  </p:cSld>
</p:sld>
</file>

<file path=ppt/slides/slide2.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9B276E0-CE54-4527-9786-6BDFB79CCD05}"/>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761503-A446-4415-AC1F-49499ACADDC7}"/>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EXECUTIVE OVERVIEW</a:t>
            </a:r>
          </a:p>
        </p:txBody>
      </p:sp>
      <p:sp>
        <p:nvSpPr>
          <p:cNvPr id="3" name="slide-2-title">
            <a:extLst xmlns:a="http://schemas.openxmlformats.org/drawingml/2006/main">
              <a:ext uri="{FF2B5EF4-FFF2-40B4-BE49-F238E27FC236}">
                <a16:creationId xmlns:a16="http://schemas.microsoft.com/office/drawing/2014/main" id="{F6A5E9CB-8300-4F9E-AA64-AC0D363FCF6F}"/>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The conversation at a glance</a:t>
            </a:r>
          </a:p>
        </p:txBody>
      </p:sp>
      <p:sp>
        <p:nvSpPr>
          <p:cNvPr id="4" name="">
            <a:extLst xmlns:a="http://schemas.openxmlformats.org/drawingml/2006/main">
              <a:ext uri="{FF2B5EF4-FFF2-40B4-BE49-F238E27FC236}">
                <a16:creationId xmlns:a16="http://schemas.microsoft.com/office/drawing/2014/main" id="{47D29EDF-2455-4E62-B3E5-F7D3889F83A4}"/>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02</a:t>
            </a:r>
          </a:p>
        </p:txBody>
      </p:sp>
      <p:sp>
        <p:nvSpPr>
          <p:cNvPr id="5" name="">
            <a:extLst xmlns:a="http://schemas.openxmlformats.org/drawingml/2006/main">
              <a:ext uri="{FF2B5EF4-FFF2-40B4-BE49-F238E27FC236}">
                <a16:creationId xmlns:a16="http://schemas.microsoft.com/office/drawing/2014/main" id="{1DC6398B-1ACB-4CD4-986A-BE244AECDDF6}"/>
              </a:ext>
            </a:extLst>
          </p:cNvPr>
          <p:cNvSpPr>
            <a:spLocks xmlns:a="http://schemas.openxmlformats.org/drawingml/2006/main" noGrp="1"/>
          </p:cNvSpPr>
          <p:nvPr/>
        </p:nvSpPr>
        <p:spPr>
          <a:xfrm xmlns:a="http://schemas.openxmlformats.org/drawingml/2006/main">
            <a:off x="666750" y="1619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6256"/>
                </a:solidFill>
              </a:defRPr>
            </a:pPr>
            <a:r>
              <a:rPr sz="1200" b="1">
                <a:solidFill>
                  <a:srgbClr val="7C6256"/>
                </a:solidFill>
              </a:rPr>
              <a:t>MENTIONS</a:t>
            </a:r>
          </a:p>
        </p:txBody>
      </p:sp>
      <p:sp>
        <p:nvSpPr>
          <p:cNvPr id="6" name="">
            <a:extLst xmlns:a="http://schemas.openxmlformats.org/drawingml/2006/main">
              <a:ext uri="{FF2B5EF4-FFF2-40B4-BE49-F238E27FC236}">
                <a16:creationId xmlns:a16="http://schemas.microsoft.com/office/drawing/2014/main" id="{9C583869-706D-409E-A992-89897823345F}"/>
              </a:ext>
            </a:extLst>
          </p:cNvPr>
          <p:cNvSpPr>
            <a:spLocks xmlns:a="http://schemas.openxmlformats.org/drawingml/2006/main" noGrp="1"/>
          </p:cNvSpPr>
          <p:nvPr/>
        </p:nvSpPr>
        <p:spPr>
          <a:xfrm xmlns:a="http://schemas.openxmlformats.org/drawingml/2006/main">
            <a:off x="666750" y="19431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B83A18"/>
                </a:solidFill>
              </a:defRPr>
            </a:pPr>
            <a:r>
              <a:rPr sz="3150" b="1">
                <a:solidFill>
                  <a:srgbClr val="B83A18"/>
                </a:solidFill>
              </a:rPr>
              <a:t>1,035</a:t>
            </a:r>
          </a:p>
        </p:txBody>
      </p:sp>
      <p:sp>
        <p:nvSpPr>
          <p:cNvPr id="7" name="">
            <a:extLst xmlns:a="http://schemas.openxmlformats.org/drawingml/2006/main">
              <a:ext uri="{FF2B5EF4-FFF2-40B4-BE49-F238E27FC236}">
                <a16:creationId xmlns:a16="http://schemas.microsoft.com/office/drawing/2014/main" id="{E37DBF68-40CD-4745-9E98-5382631B0077}"/>
              </a:ext>
            </a:extLst>
          </p:cNvPr>
          <p:cNvSpPr>
            <a:spLocks xmlns:a="http://schemas.openxmlformats.org/drawingml/2006/main" noGrp="1"/>
          </p:cNvSpPr>
          <p:nvPr/>
        </p:nvSpPr>
        <p:spPr>
          <a:xfrm xmlns:a="http://schemas.openxmlformats.org/drawingml/2006/main">
            <a:off x="666750" y="2571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Across the reporting period</a:t>
            </a:r>
          </a:p>
        </p:txBody>
      </p:sp>
      <p:sp>
        <p:nvSpPr>
          <p:cNvPr id="8" name="">
            <a:extLst xmlns:a="http://schemas.openxmlformats.org/drawingml/2006/main">
              <a:ext uri="{FF2B5EF4-FFF2-40B4-BE49-F238E27FC236}">
                <a16:creationId xmlns:a16="http://schemas.microsoft.com/office/drawing/2014/main" id="{E69175E6-74D6-4F01-9FEC-57D5BB0F955E}"/>
              </a:ext>
            </a:extLst>
          </p:cNvPr>
          <p:cNvSpPr>
            <a:spLocks xmlns:a="http://schemas.openxmlformats.org/drawingml/2006/main" noGrp="1"/>
          </p:cNvSpPr>
          <p:nvPr/>
        </p:nvSpPr>
        <p:spPr>
          <a:xfrm xmlns:a="http://schemas.openxmlformats.org/drawingml/2006/main">
            <a:off x="3429000" y="1619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6256"/>
                </a:solidFill>
              </a:defRPr>
            </a:pPr>
            <a:r>
              <a:rPr sz="1200" b="1">
                <a:solidFill>
                  <a:srgbClr val="7C6256"/>
                </a:solidFill>
              </a:rPr>
              <a:t>ESTIMATED REACH</a:t>
            </a:r>
          </a:p>
        </p:txBody>
      </p:sp>
      <p:sp>
        <p:nvSpPr>
          <p:cNvPr id="9" name="">
            <a:extLst xmlns:a="http://schemas.openxmlformats.org/drawingml/2006/main">
              <a:ext uri="{FF2B5EF4-FFF2-40B4-BE49-F238E27FC236}">
                <a16:creationId xmlns:a16="http://schemas.microsoft.com/office/drawing/2014/main" id="{95324EE5-A9F2-408C-BDC2-72020565FD3A}"/>
              </a:ext>
            </a:extLst>
          </p:cNvPr>
          <p:cNvSpPr>
            <a:spLocks xmlns:a="http://schemas.openxmlformats.org/drawingml/2006/main" noGrp="1"/>
          </p:cNvSpPr>
          <p:nvPr/>
        </p:nvSpPr>
        <p:spPr>
          <a:xfrm xmlns:a="http://schemas.openxmlformats.org/drawingml/2006/main">
            <a:off x="3429000" y="19431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B83A18"/>
                </a:solidFill>
              </a:defRPr>
            </a:pPr>
            <a:r>
              <a:rPr sz="3150" b="1">
                <a:solidFill>
                  <a:srgbClr val="B83A18"/>
                </a:solidFill>
              </a:rPr>
              <a:t>6.8M</a:t>
            </a:r>
          </a:p>
        </p:txBody>
      </p:sp>
      <p:sp>
        <p:nvSpPr>
          <p:cNvPr id="10" name="">
            <a:extLst xmlns:a="http://schemas.openxmlformats.org/drawingml/2006/main">
              <a:ext uri="{FF2B5EF4-FFF2-40B4-BE49-F238E27FC236}">
                <a16:creationId xmlns:a16="http://schemas.microsoft.com/office/drawing/2014/main" id="{6B4FBA15-E4D2-4E86-9D0E-C9890D4FE804}"/>
              </a:ext>
            </a:extLst>
          </p:cNvPr>
          <p:cNvSpPr>
            <a:spLocks xmlns:a="http://schemas.openxmlformats.org/drawingml/2006/main" noGrp="1"/>
          </p:cNvSpPr>
          <p:nvPr/>
        </p:nvSpPr>
        <p:spPr>
          <a:xfrm xmlns:a="http://schemas.openxmlformats.org/drawingml/2006/main">
            <a:off x="3429000" y="2571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Potential audience exposure</a:t>
            </a:r>
          </a:p>
        </p:txBody>
      </p:sp>
      <p:sp>
        <p:nvSpPr>
          <p:cNvPr id="11" name="">
            <a:extLst xmlns:a="http://schemas.openxmlformats.org/drawingml/2006/main">
              <a:ext uri="{FF2B5EF4-FFF2-40B4-BE49-F238E27FC236}">
                <a16:creationId xmlns:a16="http://schemas.microsoft.com/office/drawing/2014/main" id="{05B73203-9DD7-4A37-9D90-E8B43EC4A9B2}"/>
              </a:ext>
            </a:extLst>
          </p:cNvPr>
          <p:cNvSpPr>
            <a:spLocks xmlns:a="http://schemas.openxmlformats.org/drawingml/2006/main" noGrp="1"/>
          </p:cNvSpPr>
          <p:nvPr/>
        </p:nvSpPr>
        <p:spPr>
          <a:xfrm xmlns:a="http://schemas.openxmlformats.org/drawingml/2006/main">
            <a:off x="6191250" y="1619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6256"/>
                </a:solidFill>
              </a:defRPr>
            </a:pPr>
            <a:r>
              <a:rPr sz="1200" b="1">
                <a:solidFill>
                  <a:srgbClr val="7C6256"/>
                </a:solidFill>
              </a:rPr>
              <a:t>ENGAGEMENT</a:t>
            </a:r>
          </a:p>
        </p:txBody>
      </p:sp>
      <p:sp>
        <p:nvSpPr>
          <p:cNvPr id="12" name="">
            <a:extLst xmlns:a="http://schemas.openxmlformats.org/drawingml/2006/main">
              <a:ext uri="{FF2B5EF4-FFF2-40B4-BE49-F238E27FC236}">
                <a16:creationId xmlns:a16="http://schemas.microsoft.com/office/drawing/2014/main" id="{90D0A8B3-E1CC-45D5-9AA8-40BAF3A64B79}"/>
              </a:ext>
            </a:extLst>
          </p:cNvPr>
          <p:cNvSpPr>
            <a:spLocks xmlns:a="http://schemas.openxmlformats.org/drawingml/2006/main" noGrp="1"/>
          </p:cNvSpPr>
          <p:nvPr/>
        </p:nvSpPr>
        <p:spPr>
          <a:xfrm xmlns:a="http://schemas.openxmlformats.org/drawingml/2006/main">
            <a:off x="6191250" y="19431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B83A18"/>
                </a:solidFill>
              </a:defRPr>
            </a:pPr>
            <a:r>
              <a:rPr sz="3150" b="1">
                <a:solidFill>
                  <a:srgbClr val="B83A18"/>
                </a:solidFill>
              </a:rPr>
              <a:t>173.4K</a:t>
            </a:r>
          </a:p>
        </p:txBody>
      </p:sp>
      <p:sp>
        <p:nvSpPr>
          <p:cNvPr id="13" name="">
            <a:extLst xmlns:a="http://schemas.openxmlformats.org/drawingml/2006/main">
              <a:ext uri="{FF2B5EF4-FFF2-40B4-BE49-F238E27FC236}">
                <a16:creationId xmlns:a16="http://schemas.microsoft.com/office/drawing/2014/main" id="{476315C2-DFE1-45A7-A360-E5A8B9BAA192}"/>
              </a:ext>
            </a:extLst>
          </p:cNvPr>
          <p:cNvSpPr>
            <a:spLocks xmlns:a="http://schemas.openxmlformats.org/drawingml/2006/main" noGrp="1"/>
          </p:cNvSpPr>
          <p:nvPr/>
        </p:nvSpPr>
        <p:spPr>
          <a:xfrm xmlns:a="http://schemas.openxmlformats.org/drawingml/2006/main">
            <a:off x="6191250" y="2571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Likes, comments and shares</a:t>
            </a:r>
          </a:p>
        </p:txBody>
      </p:sp>
      <p:sp>
        <p:nvSpPr>
          <p:cNvPr id="14" name="">
            <a:extLst xmlns:a="http://schemas.openxmlformats.org/drawingml/2006/main">
              <a:ext uri="{FF2B5EF4-FFF2-40B4-BE49-F238E27FC236}">
                <a16:creationId xmlns:a16="http://schemas.microsoft.com/office/drawing/2014/main" id="{FA1F0D35-03EC-42CA-8F38-484EDF567B76}"/>
              </a:ext>
            </a:extLst>
          </p:cNvPr>
          <p:cNvSpPr>
            <a:spLocks xmlns:a="http://schemas.openxmlformats.org/drawingml/2006/main" noGrp="1"/>
          </p:cNvSpPr>
          <p:nvPr/>
        </p:nvSpPr>
        <p:spPr>
          <a:xfrm xmlns:a="http://schemas.openxmlformats.org/drawingml/2006/main">
            <a:off x="8953500" y="1619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6256"/>
                </a:solidFill>
              </a:defRPr>
            </a:pPr>
            <a:r>
              <a:rPr sz="1200" b="1">
                <a:solidFill>
                  <a:srgbClr val="7C6256"/>
                </a:solidFill>
              </a:rPr>
              <a:t>PEAK DAY</a:t>
            </a:r>
          </a:p>
        </p:txBody>
      </p:sp>
      <p:sp>
        <p:nvSpPr>
          <p:cNvPr id="15" name="">
            <a:extLst xmlns:a="http://schemas.openxmlformats.org/drawingml/2006/main">
              <a:ext uri="{FF2B5EF4-FFF2-40B4-BE49-F238E27FC236}">
                <a16:creationId xmlns:a16="http://schemas.microsoft.com/office/drawing/2014/main" id="{4D2815AC-F2D0-4371-99B7-D456E691ACE1}"/>
              </a:ext>
            </a:extLst>
          </p:cNvPr>
          <p:cNvSpPr>
            <a:spLocks xmlns:a="http://schemas.openxmlformats.org/drawingml/2006/main" noGrp="1"/>
          </p:cNvSpPr>
          <p:nvPr/>
        </p:nvSpPr>
        <p:spPr>
          <a:xfrm xmlns:a="http://schemas.openxmlformats.org/drawingml/2006/main">
            <a:off x="8953500" y="19431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B83A18"/>
                </a:solidFill>
              </a:defRPr>
            </a:pPr>
            <a:r>
              <a:rPr sz="3150" b="1">
                <a:solidFill>
                  <a:srgbClr val="B83A18"/>
                </a:solidFill>
              </a:rPr>
              <a:t>Aug 31</a:t>
            </a:r>
          </a:p>
        </p:txBody>
      </p:sp>
      <p:sp>
        <p:nvSpPr>
          <p:cNvPr id="16" name="">
            <a:extLst xmlns:a="http://schemas.openxmlformats.org/drawingml/2006/main">
              <a:ext uri="{FF2B5EF4-FFF2-40B4-BE49-F238E27FC236}">
                <a16:creationId xmlns:a16="http://schemas.microsoft.com/office/drawing/2014/main" id="{F19DDEAA-A4B3-49BB-A190-C50365003400}"/>
              </a:ext>
            </a:extLst>
          </p:cNvPr>
          <p:cNvSpPr>
            <a:spLocks xmlns:a="http://schemas.openxmlformats.org/drawingml/2006/main" noGrp="1"/>
          </p:cNvSpPr>
          <p:nvPr/>
        </p:nvSpPr>
        <p:spPr>
          <a:xfrm xmlns:a="http://schemas.openxmlformats.org/drawingml/2006/main">
            <a:off x="8953500" y="2571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Highest daily engagement</a:t>
            </a:r>
          </a:p>
        </p:txBody>
      </p:sp>
      <p:sp>
        <p:nvSpPr>
          <p:cNvPr id="17" name="">
            <a:extLst xmlns:a="http://schemas.openxmlformats.org/drawingml/2006/main">
              <a:ext uri="{FF2B5EF4-FFF2-40B4-BE49-F238E27FC236}">
                <a16:creationId xmlns:a16="http://schemas.microsoft.com/office/drawing/2014/main" id="{BDE10A8A-ABA2-45D4-983A-C60D4C1553BF}"/>
              </a:ext>
            </a:extLst>
          </p:cNvPr>
          <p:cNvSpPr>
            <a:spLocks xmlns:a="http://schemas.openxmlformats.org/drawingml/2006/main" noGrp="1"/>
          </p:cNvSpPr>
          <p:nvPr/>
        </p:nvSpPr>
        <p:spPr>
          <a:xfrm xmlns:a="http://schemas.openxmlformats.org/drawingml/2006/main">
            <a:off x="666750" y="3429000"/>
            <a:ext cx="10858500" cy="2095500"/>
          </a:xfrm>
          <a:prstGeom xmlns:a="http://schemas.openxmlformats.org/drawingml/2006/main" prst="roundRect">
            <a:avLst>
              <a:gd name="adj" fmla="val 5455"/>
            </a:avLst>
          </a:prstGeom>
          <a:solidFill xmlns:a="http://schemas.openxmlformats.org/drawingml/2006/main">
            <a:srgbClr val="FFF1E6"/>
          </a:solidFill>
          <a:ln xmlns:a="http://schemas.openxmlformats.org/drawingml/2006/main" w="9525">
            <a:solidFill>
              <a:srgbClr val="ECD6C7"/>
            </a:solidFill>
            <a:prstDash val="solid"/>
          </a:ln>
        </p:spPr>
      </p:sp>
      <p:sp>
        <p:nvSpPr>
          <p:cNvPr id="18" name="">
            <a:extLst xmlns:a="http://schemas.openxmlformats.org/drawingml/2006/main">
              <a:ext uri="{FF2B5EF4-FFF2-40B4-BE49-F238E27FC236}">
                <a16:creationId xmlns:a16="http://schemas.microsoft.com/office/drawing/2014/main" id="{286ADABC-1B67-4072-A824-FC84A79B4F8A}"/>
              </a:ext>
            </a:extLst>
          </p:cNvPr>
          <p:cNvSpPr>
            <a:spLocks xmlns:a="http://schemas.openxmlformats.org/drawingml/2006/main" noGrp="1"/>
          </p:cNvSpPr>
          <p:nvPr/>
        </p:nvSpPr>
        <p:spPr>
          <a:xfrm xmlns:a="http://schemas.openxmlformats.org/drawingml/2006/main">
            <a:off x="952500" y="3714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83A18"/>
                </a:solidFill>
              </a:defRPr>
            </a:pPr>
            <a:r>
              <a:rPr sz="1800" b="1">
                <a:solidFill>
                  <a:srgbClr val="B83A18"/>
                </a:solidFill>
              </a:rPr>
              <a:t>What stands out</a:t>
            </a:r>
          </a:p>
        </p:txBody>
      </p:sp>
      <p:sp>
        <p:nvSpPr>
          <p:cNvPr id="19" name="">
            <a:extLst xmlns:a="http://schemas.openxmlformats.org/drawingml/2006/main">
              <a:ext uri="{FF2B5EF4-FFF2-40B4-BE49-F238E27FC236}">
                <a16:creationId xmlns:a16="http://schemas.microsoft.com/office/drawing/2014/main" id="{B74E2BAF-55C7-408D-B506-F7FDD120E06B}"/>
              </a:ext>
            </a:extLst>
          </p:cNvPr>
          <p:cNvSpPr>
            <a:spLocks xmlns:a="http://schemas.openxmlformats.org/drawingml/2006/main" noGrp="1"/>
          </p:cNvSpPr>
          <p:nvPr/>
        </p:nvSpPr>
        <p:spPr>
          <a:xfrm xmlns:a="http://schemas.openxmlformats.org/drawingml/2006/main">
            <a:off x="952500" y="4229100"/>
            <a:ext cx="981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150E"/>
                </a:solidFill>
              </a:defRPr>
            </a:pPr>
            <a:r>
              <a:rPr sz="1800" b="0">
                <a:solidFill>
                  <a:srgbClr val="24150E"/>
                </a:solidFill>
              </a:rPr>
              <a:t>Neutral sentiment accounts for 70.0% of classified mentions. youtube leads source volume with 509 mentions.</a:t>
            </a:r>
          </a:p>
        </p:txBody>
      </p:sp>
      <p:sp>
        <p:nvSpPr>
          <p:cNvPr id="20" name="">
            <a:extLst xmlns:a="http://schemas.openxmlformats.org/drawingml/2006/main">
              <a:ext uri="{FF2B5EF4-FFF2-40B4-BE49-F238E27FC236}">
                <a16:creationId xmlns:a16="http://schemas.microsoft.com/office/drawing/2014/main" id="{597D0CE7-1FA8-41DF-B3D9-72D4E9E17589}"/>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21" name="">
            <a:extLst xmlns:a="http://schemas.openxmlformats.org/drawingml/2006/main">
              <a:ext uri="{FF2B5EF4-FFF2-40B4-BE49-F238E27FC236}">
                <a16:creationId xmlns:a16="http://schemas.microsoft.com/office/drawing/2014/main" id="{971E3D7F-1BD2-48E0-AA03-F0A99FB06DE7}"/>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22" name="">
            <a:extLst xmlns:a="http://schemas.openxmlformats.org/drawingml/2006/main">
              <a:ext uri="{FF2B5EF4-FFF2-40B4-BE49-F238E27FC236}">
                <a16:creationId xmlns:a16="http://schemas.microsoft.com/office/drawing/2014/main" id="{82B5E122-0E5C-4B34-9B8E-758080CEA8C1}"/>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364348249"/>
      </p:ext>
    </p:extLst>
  </p:cSld>
</p:sld>
</file>

<file path=ppt/slides/slide3.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B58942-D9DD-4C51-B206-36D952CDA270}"/>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FA7A8D-D132-428F-8A85-5F336D7EBA1B}"/>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DAILY TIMELINE</a:t>
            </a:r>
          </a:p>
        </p:txBody>
      </p:sp>
      <p:sp>
        <p:nvSpPr>
          <p:cNvPr id="3" name="slide-3-title">
            <a:extLst xmlns:a="http://schemas.openxmlformats.org/drawingml/2006/main">
              <a:ext uri="{FF2B5EF4-FFF2-40B4-BE49-F238E27FC236}">
                <a16:creationId xmlns:a16="http://schemas.microsoft.com/office/drawing/2014/main" id="{EE6B9F64-00EC-4435-84B0-4F404720E789}"/>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Attention moved through distinct daily peaks</a:t>
            </a:r>
          </a:p>
        </p:txBody>
      </p:sp>
      <p:sp>
        <p:nvSpPr>
          <p:cNvPr id="4" name="">
            <a:extLst xmlns:a="http://schemas.openxmlformats.org/drawingml/2006/main">
              <a:ext uri="{FF2B5EF4-FFF2-40B4-BE49-F238E27FC236}">
                <a16:creationId xmlns:a16="http://schemas.microsoft.com/office/drawing/2014/main" id="{C488D62C-197C-4B0D-ABC3-14B02F0124A3}"/>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03</a:t>
            </a:r>
          </a:p>
        </p:txBody>
      </p:sp>
      <p:sp>
        <p:nvSpPr>
          <p:cNvPr id="5" name="">
            <a:extLst xmlns:a="http://schemas.openxmlformats.org/drawingml/2006/main">
              <a:ext uri="{FF2B5EF4-FFF2-40B4-BE49-F238E27FC236}">
                <a16:creationId xmlns:a16="http://schemas.microsoft.com/office/drawing/2014/main" id="{527D0C8E-769A-4FDF-8E50-8CD2F22709F8}"/>
              </a:ext>
            </a:extLst>
          </p:cNvPr>
          <p:cNvSpPr>
            <a:spLocks xmlns:a="http://schemas.openxmlformats.org/drawingml/2006/main" noGrp="1"/>
          </p:cNvSpPr>
          <p:nvPr/>
        </p:nvSpPr>
        <p:spPr>
          <a:xfrm xmlns:a="http://schemas.openxmlformats.org/drawingml/2006/main">
            <a:off x="666750" y="1428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83A18"/>
                </a:solidFill>
              </a:defRPr>
            </a:pPr>
            <a:r>
              <a:rPr sz="1800" b="1">
                <a:solidFill>
                  <a:srgbClr val="B83A18"/>
                </a:solidFill>
              </a:rPr>
              <a:t>Mentions</a:t>
            </a:r>
          </a:p>
        </p:txBody>
      </p:sp>
      <p:sp>
        <p:nvSpPr>
          <p:cNvPr id="6" name="">
            <a:extLst xmlns:a="http://schemas.openxmlformats.org/drawingml/2006/main">
              <a:ext uri="{FF2B5EF4-FFF2-40B4-BE49-F238E27FC236}">
                <a16:creationId xmlns:a16="http://schemas.microsoft.com/office/drawing/2014/main" id="{6BB1CF02-D4E6-4030-A8D9-4899C65848DF}"/>
              </a:ext>
            </a:extLst>
          </p:cNvPr>
          <p:cNvSpPr>
            <a:spLocks xmlns:a="http://schemas.openxmlformats.org/drawingml/2006/main" noGrp="1"/>
          </p:cNvSpPr>
          <p:nvPr/>
        </p:nvSpPr>
        <p:spPr>
          <a:xfrm xmlns:a="http://schemas.openxmlformats.org/drawingml/2006/main">
            <a:off x="6286500" y="1428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ECA81A"/>
                </a:solidFill>
              </a:defRPr>
            </a:pPr>
            <a:r>
              <a:rPr sz="1800" b="1">
                <a:solidFill>
                  <a:srgbClr val="ECA81A"/>
                </a:solidFill>
              </a:rPr>
              <a:t>Engagement</a:t>
            </a:r>
          </a:p>
        </p:txBody>
      </p:sp>
      <p:graphicFrame>
        <p:nvGraphicFramePr>
          <p:cNvPr id="18" name="Chart"/>
          <p:cNvGraphicFramePr/>
          <p:nvPr/>
        </p:nvGraphicFramePr>
        <p:xfrm>
          <a:off xmlns:a="http://schemas.openxmlformats.org/drawingml/2006/main" x="666750" y="1857375"/>
          <a:ext xmlns:a="http://schemas.openxmlformats.org/drawingml/2006/main" cx="5048250" cy="3476625"/>
        </p:xfrm>
        <a:graphic xmlns:a="http://schemas.openxmlformats.org/drawingml/2006/main">
          <a:graphicData uri="http://schemas.openxmlformats.org/drawingml/2006/chart">
            <c:chart xmlns:r="http://schemas.openxmlformats.org/officeDocument/2006/relationships" xmlns:c="http://schemas.openxmlformats.org/drawingml/2006/chart" r:id="R9f06ce84ff1b4d1d"/>
          </a:graphicData>
        </a:graphic>
      </p:graphicFrame>
      <p:graphicFrame>
        <p:nvGraphicFramePr>
          <p:cNvPr id="19" name="Chart"/>
          <p:cNvGraphicFramePr/>
          <p:nvPr/>
        </p:nvGraphicFramePr>
        <p:xfrm>
          <a:off xmlns:a="http://schemas.openxmlformats.org/drawingml/2006/main" x="6286500" y="1857375"/>
          <a:ext xmlns:a="http://schemas.openxmlformats.org/drawingml/2006/main" cx="5238750" cy="3476625"/>
        </p:xfrm>
        <a:graphic xmlns:a="http://schemas.openxmlformats.org/drawingml/2006/main">
          <a:graphicData uri="http://schemas.openxmlformats.org/drawingml/2006/chart">
            <c:chart xmlns:r="http://schemas.openxmlformats.org/officeDocument/2006/relationships" xmlns:c="http://schemas.openxmlformats.org/drawingml/2006/chart" r:id="Rab0cb2c66ef8472e"/>
          </a:graphicData>
        </a:graphic>
      </p:graphicFrame>
      <p:sp>
        <p:nvSpPr>
          <p:cNvPr id="9" name="">
            <a:extLst xmlns:a="http://schemas.openxmlformats.org/drawingml/2006/main">
              <a:ext uri="{FF2B5EF4-FFF2-40B4-BE49-F238E27FC236}">
                <a16:creationId xmlns:a16="http://schemas.microsoft.com/office/drawing/2014/main" id="{3A13E8C1-3B5A-4DAC-AE22-871B31E93ED2}"/>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10" name="">
            <a:extLst xmlns:a="http://schemas.openxmlformats.org/drawingml/2006/main">
              <a:ext uri="{FF2B5EF4-FFF2-40B4-BE49-F238E27FC236}">
                <a16:creationId xmlns:a16="http://schemas.microsoft.com/office/drawing/2014/main" id="{4A3D57F8-1A20-44A0-9C92-4590CB17282D}"/>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11" name="">
            <a:extLst xmlns:a="http://schemas.openxmlformats.org/drawingml/2006/main">
              <a:ext uri="{FF2B5EF4-FFF2-40B4-BE49-F238E27FC236}">
                <a16:creationId xmlns:a16="http://schemas.microsoft.com/office/drawing/2014/main" id="{B562735E-8D63-47BB-85ED-F7547DC20E1B}"/>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1452414119"/>
      </p:ext>
    </p:extLst>
  </p:cSld>
</p:sld>
</file>

<file path=ppt/slides/slide4.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E8D9E4F-02B6-45E8-B4F6-52FCF2743551}"/>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CBA943-D2D7-4185-BF7F-106A9288E86D}"/>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SOURCE PERFORMANCE</a:t>
            </a:r>
          </a:p>
        </p:txBody>
      </p:sp>
      <p:sp>
        <p:nvSpPr>
          <p:cNvPr id="3" name="slide-4-title">
            <a:extLst xmlns:a="http://schemas.openxmlformats.org/drawingml/2006/main">
              <a:ext uri="{FF2B5EF4-FFF2-40B4-BE49-F238E27FC236}">
                <a16:creationId xmlns:a16="http://schemas.microsoft.com/office/drawing/2014/main" id="{BC38AAE3-B574-4631-8DD4-5F2880E0B65E}"/>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A small group of sources drove most visibility</a:t>
            </a:r>
          </a:p>
        </p:txBody>
      </p:sp>
      <p:sp>
        <p:nvSpPr>
          <p:cNvPr id="4" name="">
            <a:extLst xmlns:a="http://schemas.openxmlformats.org/drawingml/2006/main">
              <a:ext uri="{FF2B5EF4-FFF2-40B4-BE49-F238E27FC236}">
                <a16:creationId xmlns:a16="http://schemas.microsoft.com/office/drawing/2014/main" id="{9E931F65-D253-4E99-B29F-9A470BB71F3A}"/>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04</a:t>
            </a:r>
          </a:p>
        </p:txBody>
      </p:sp>
      <p:graphicFrame>
        <p:nvGraphicFramePr>
          <p:cNvPr id="17" name="Chart"/>
          <p:cNvGraphicFramePr/>
          <p:nvPr/>
        </p:nvGraphicFramePr>
        <p:xfrm>
          <a:off xmlns:a="http://schemas.openxmlformats.org/drawingml/2006/main" x="666750" y="1504950"/>
          <a:ext xmlns:a="http://schemas.openxmlformats.org/drawingml/2006/main" cx="7239000" cy="4286250"/>
        </p:xfrm>
        <a:graphic xmlns:a="http://schemas.openxmlformats.org/drawingml/2006/main">
          <a:graphicData uri="http://schemas.openxmlformats.org/drawingml/2006/chart">
            <c:chart xmlns:r="http://schemas.openxmlformats.org/officeDocument/2006/relationships" xmlns:c="http://schemas.openxmlformats.org/drawingml/2006/chart" r:id="Rc0d37ec0632b4c91"/>
          </a:graphicData>
        </a:graphic>
      </p:graphicFrame>
      <p:sp>
        <p:nvSpPr>
          <p:cNvPr id="6" name="">
            <a:extLst xmlns:a="http://schemas.openxmlformats.org/drawingml/2006/main">
              <a:ext uri="{FF2B5EF4-FFF2-40B4-BE49-F238E27FC236}">
                <a16:creationId xmlns:a16="http://schemas.microsoft.com/office/drawing/2014/main" id="{23CA5EE2-B308-4AB2-80B4-B1166B214314}"/>
              </a:ext>
            </a:extLst>
          </p:cNvPr>
          <p:cNvSpPr>
            <a:spLocks xmlns:a="http://schemas.openxmlformats.org/drawingml/2006/main" noGrp="1"/>
          </p:cNvSpPr>
          <p:nvPr/>
        </p:nvSpPr>
        <p:spPr>
          <a:xfrm xmlns:a="http://schemas.openxmlformats.org/drawingml/2006/main">
            <a:off x="8477250" y="19050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7C6256"/>
                </a:solidFill>
              </a:defRPr>
            </a:pPr>
            <a:r>
              <a:rPr sz="1350" b="1">
                <a:solidFill>
                  <a:srgbClr val="7C6256"/>
                </a:solidFill>
              </a:rPr>
              <a:t>Leading source</a:t>
            </a:r>
          </a:p>
        </p:txBody>
      </p:sp>
      <p:sp>
        <p:nvSpPr>
          <p:cNvPr id="7" name="">
            <a:extLst xmlns:a="http://schemas.openxmlformats.org/drawingml/2006/main">
              <a:ext uri="{FF2B5EF4-FFF2-40B4-BE49-F238E27FC236}">
                <a16:creationId xmlns:a16="http://schemas.microsoft.com/office/drawing/2014/main" id="{B74304A0-0214-4899-8C31-69ED7114FA82}"/>
              </a:ext>
            </a:extLst>
          </p:cNvPr>
          <p:cNvSpPr>
            <a:spLocks xmlns:a="http://schemas.openxmlformats.org/drawingml/2006/main" noGrp="1"/>
          </p:cNvSpPr>
          <p:nvPr/>
        </p:nvSpPr>
        <p:spPr>
          <a:xfrm xmlns:a="http://schemas.openxmlformats.org/drawingml/2006/main">
            <a:off x="8477250" y="2333625"/>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B83A18"/>
                </a:solidFill>
              </a:defRPr>
            </a:pPr>
            <a:r>
              <a:rPr sz="2550" b="1">
                <a:solidFill>
                  <a:srgbClr val="B83A18"/>
                </a:solidFill>
              </a:rPr>
              <a:t>youtube</a:t>
            </a:r>
          </a:p>
        </p:txBody>
      </p:sp>
      <p:sp>
        <p:nvSpPr>
          <p:cNvPr id="8" name="">
            <a:extLst xmlns:a="http://schemas.openxmlformats.org/drawingml/2006/main">
              <a:ext uri="{FF2B5EF4-FFF2-40B4-BE49-F238E27FC236}">
                <a16:creationId xmlns:a16="http://schemas.microsoft.com/office/drawing/2014/main" id="{3960A09A-3364-416B-8AEC-50624965845A}"/>
              </a:ext>
            </a:extLst>
          </p:cNvPr>
          <p:cNvSpPr>
            <a:spLocks xmlns:a="http://schemas.openxmlformats.org/drawingml/2006/main" noGrp="1"/>
          </p:cNvSpPr>
          <p:nvPr/>
        </p:nvSpPr>
        <p:spPr>
          <a:xfrm xmlns:a="http://schemas.openxmlformats.org/drawingml/2006/main">
            <a:off x="8477250" y="31908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4150E"/>
                </a:solidFill>
              </a:defRPr>
            </a:pPr>
            <a:r>
              <a:rPr sz="1500" b="0">
                <a:solidFill>
                  <a:srgbClr val="24150E"/>
                </a:solidFill>
              </a:rPr>
              <a:t>509 mentions</a:t>
            </a:r>
          </a:p>
          <a:p xmlns:a="http://schemas.openxmlformats.org/drawingml/2006/main">
            <a:pPr algn="l">
              <a:defRPr sz="1500" b="0">
                <a:solidFill>
                  <a:srgbClr val="24150E"/>
                </a:solidFill>
              </a:defRPr>
            </a:pPr>
            <a:r>
              <a:rPr sz="1500" b="0">
                <a:solidFill>
                  <a:srgbClr val="24150E"/>
                </a:solidFill>
              </a:rPr>
              <a:t>2.2M estimated reach</a:t>
            </a:r>
          </a:p>
        </p:txBody>
      </p:sp>
      <p:sp>
        <p:nvSpPr>
          <p:cNvPr id="9" name="">
            <a:extLst xmlns:a="http://schemas.openxmlformats.org/drawingml/2006/main">
              <a:ext uri="{FF2B5EF4-FFF2-40B4-BE49-F238E27FC236}">
                <a16:creationId xmlns:a16="http://schemas.microsoft.com/office/drawing/2014/main" id="{2FBD166C-4519-4F0F-A3E8-38C53F9EBA5A}"/>
              </a:ext>
            </a:extLst>
          </p:cNvPr>
          <p:cNvSpPr>
            <a:spLocks xmlns:a="http://schemas.openxmlformats.org/drawingml/2006/main" noGrp="1"/>
          </p:cNvSpPr>
          <p:nvPr/>
        </p:nvSpPr>
        <p:spPr>
          <a:xfrm xmlns:a="http://schemas.openxmlformats.org/drawingml/2006/main">
            <a:off x="8477250" y="447675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Source reach is aggregated; it is not a unique-audience count.</a:t>
            </a:r>
          </a:p>
        </p:txBody>
      </p:sp>
      <p:sp>
        <p:nvSpPr>
          <p:cNvPr id="10" name="">
            <a:extLst xmlns:a="http://schemas.openxmlformats.org/drawingml/2006/main">
              <a:ext uri="{FF2B5EF4-FFF2-40B4-BE49-F238E27FC236}">
                <a16:creationId xmlns:a16="http://schemas.microsoft.com/office/drawing/2014/main" id="{13FBF1D7-6287-4D45-B99C-3DA125A6A318}"/>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11" name="">
            <a:extLst xmlns:a="http://schemas.openxmlformats.org/drawingml/2006/main">
              <a:ext uri="{FF2B5EF4-FFF2-40B4-BE49-F238E27FC236}">
                <a16:creationId xmlns:a16="http://schemas.microsoft.com/office/drawing/2014/main" id="{2310D6DF-69BB-41DB-AFEF-0AC84C30F89E}"/>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12" name="">
            <a:extLst xmlns:a="http://schemas.openxmlformats.org/drawingml/2006/main">
              <a:ext uri="{FF2B5EF4-FFF2-40B4-BE49-F238E27FC236}">
                <a16:creationId xmlns:a16="http://schemas.microsoft.com/office/drawing/2014/main" id="{F3CB7DED-7196-46A2-A9CE-BC2415BA72CC}"/>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1874054744"/>
      </p:ext>
    </p:extLst>
  </p:cSld>
</p:sld>
</file>

<file path=ppt/slides/slide5.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7CA08E2-FCF6-4B82-9557-B8AA32580C6D}"/>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A53B1A-637D-4C89-B721-99AB4A17BD6C}"/>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SENTIMENT</a:t>
            </a:r>
          </a:p>
        </p:txBody>
      </p:sp>
      <p:sp>
        <p:nvSpPr>
          <p:cNvPr id="3" name="slide-5-title">
            <a:extLst xmlns:a="http://schemas.openxmlformats.org/drawingml/2006/main">
              <a:ext uri="{FF2B5EF4-FFF2-40B4-BE49-F238E27FC236}">
                <a16:creationId xmlns:a16="http://schemas.microsoft.com/office/drawing/2014/main" id="{E4E2E646-55A8-4009-A6FE-BD546EEFD5F3}"/>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Neutral sentiment formed the largest share</a:t>
            </a:r>
          </a:p>
        </p:txBody>
      </p:sp>
      <p:sp>
        <p:nvSpPr>
          <p:cNvPr id="4" name="">
            <a:extLst xmlns:a="http://schemas.openxmlformats.org/drawingml/2006/main">
              <a:ext uri="{FF2B5EF4-FFF2-40B4-BE49-F238E27FC236}">
                <a16:creationId xmlns:a16="http://schemas.microsoft.com/office/drawing/2014/main" id="{182465D4-DAD0-4B91-A50C-8E7A4F75C6F6}"/>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05</a:t>
            </a:r>
          </a:p>
        </p:txBody>
      </p:sp>
      <p:sp>
        <p:nvSpPr>
          <p:cNvPr id="5" name="">
            <a:extLst xmlns:a="http://schemas.openxmlformats.org/drawingml/2006/main">
              <a:ext uri="{FF2B5EF4-FFF2-40B4-BE49-F238E27FC236}">
                <a16:creationId xmlns:a16="http://schemas.microsoft.com/office/drawing/2014/main" id="{125298CA-FE37-441E-90B0-86E2DB76C679}"/>
              </a:ext>
            </a:extLst>
          </p:cNvPr>
          <p:cNvSpPr>
            <a:spLocks xmlns:a="http://schemas.openxmlformats.org/drawingml/2006/main" noGrp="1"/>
          </p:cNvSpPr>
          <p:nvPr/>
        </p:nvSpPr>
        <p:spPr>
          <a:xfrm xmlns:a="http://schemas.openxmlformats.org/drawingml/2006/main">
            <a:off x="857250" y="1809750"/>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5400" b="1">
                <a:solidFill>
                  <a:srgbClr val="6C78A2"/>
                </a:solidFill>
              </a:defRPr>
            </a:pPr>
            <a:r>
              <a:rPr sz="5400" b="1">
                <a:solidFill>
                  <a:srgbClr val="6C78A2"/>
                </a:solidFill>
              </a:rPr>
              <a:t>70.0%</a:t>
            </a:r>
          </a:p>
        </p:txBody>
      </p:sp>
      <p:sp>
        <p:nvSpPr>
          <p:cNvPr id="6" name="">
            <a:extLst xmlns:a="http://schemas.openxmlformats.org/drawingml/2006/main">
              <a:ext uri="{FF2B5EF4-FFF2-40B4-BE49-F238E27FC236}">
                <a16:creationId xmlns:a16="http://schemas.microsoft.com/office/drawing/2014/main" id="{717F9C84-A8AF-4E2A-9ED4-32B98D3D1772}"/>
              </a:ext>
            </a:extLst>
          </p:cNvPr>
          <p:cNvSpPr>
            <a:spLocks xmlns:a="http://schemas.openxmlformats.org/drawingml/2006/main" noGrp="1"/>
          </p:cNvSpPr>
          <p:nvPr/>
        </p:nvSpPr>
        <p:spPr>
          <a:xfrm xmlns:a="http://schemas.openxmlformats.org/drawingml/2006/main">
            <a:off x="1047750" y="28098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4150E"/>
                </a:solidFill>
              </a:defRPr>
            </a:pPr>
            <a:r>
              <a:rPr sz="1725" b="1">
                <a:solidFill>
                  <a:srgbClr val="24150E"/>
                </a:solidFill>
              </a:rPr>
              <a:t>Neutral share of classified mentions</a:t>
            </a:r>
          </a:p>
        </p:txBody>
      </p:sp>
      <p:sp>
        <p:nvSpPr>
          <p:cNvPr id="7" name="">
            <a:extLst xmlns:a="http://schemas.openxmlformats.org/drawingml/2006/main">
              <a:ext uri="{FF2B5EF4-FFF2-40B4-BE49-F238E27FC236}">
                <a16:creationId xmlns:a16="http://schemas.microsoft.com/office/drawing/2014/main" id="{70C59A67-26BA-4C88-876C-EAE3C1E94177}"/>
              </a:ext>
            </a:extLst>
          </p:cNvPr>
          <p:cNvSpPr>
            <a:spLocks xmlns:a="http://schemas.openxmlformats.org/drawingml/2006/main" noGrp="1"/>
          </p:cNvSpPr>
          <p:nvPr/>
        </p:nvSpPr>
        <p:spPr>
          <a:xfrm xmlns:a="http://schemas.openxmlformats.org/drawingml/2006/main">
            <a:off x="1000125" y="3571875"/>
            <a:ext cx="331304" cy="514350"/>
          </a:xfrm>
          <a:prstGeom xmlns:a="http://schemas.openxmlformats.org/drawingml/2006/main" prst="rect">
            <a:avLst/>
          </a:prstGeom>
          <a:solidFill xmlns:a="http://schemas.openxmlformats.org/drawingml/2006/main">
            <a:srgbClr val="287A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F6E66A-505C-48DB-A5BB-0A4DDABF5287}"/>
              </a:ext>
            </a:extLst>
          </p:cNvPr>
          <p:cNvSpPr>
            <a:spLocks xmlns:a="http://schemas.openxmlformats.org/drawingml/2006/main" noGrp="1"/>
          </p:cNvSpPr>
          <p:nvPr/>
        </p:nvSpPr>
        <p:spPr>
          <a:xfrm xmlns:a="http://schemas.openxmlformats.org/drawingml/2006/main">
            <a:off x="1331429" y="3571875"/>
            <a:ext cx="3336051" cy="514350"/>
          </a:xfrm>
          <a:prstGeom xmlns:a="http://schemas.openxmlformats.org/drawingml/2006/main" prst="rect">
            <a:avLst/>
          </a:prstGeom>
          <a:solidFill xmlns:a="http://schemas.openxmlformats.org/drawingml/2006/main">
            <a:srgbClr val="6C78A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7E4E10-B46A-4508-8700-2BBE0963084A}"/>
              </a:ext>
            </a:extLst>
          </p:cNvPr>
          <p:cNvSpPr>
            <a:spLocks xmlns:a="http://schemas.openxmlformats.org/drawingml/2006/main" noGrp="1"/>
          </p:cNvSpPr>
          <p:nvPr/>
        </p:nvSpPr>
        <p:spPr>
          <a:xfrm xmlns:a="http://schemas.openxmlformats.org/drawingml/2006/main">
            <a:off x="4667480" y="3571875"/>
            <a:ext cx="1095145" cy="514350"/>
          </a:xfrm>
          <a:prstGeom xmlns:a="http://schemas.openxmlformats.org/drawingml/2006/main" prst="rect">
            <a:avLst/>
          </a:prstGeom>
          <a:solidFill xmlns:a="http://schemas.openxmlformats.org/drawingml/2006/main">
            <a:srgbClr val="C84B3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921D02-E2CB-4D38-B2B5-098264FD8952}"/>
              </a:ext>
            </a:extLst>
          </p:cNvPr>
          <p:cNvSpPr>
            <a:spLocks xmlns:a="http://schemas.openxmlformats.org/drawingml/2006/main" noGrp="1"/>
          </p:cNvSpPr>
          <p:nvPr/>
        </p:nvSpPr>
        <p:spPr>
          <a:xfrm xmlns:a="http://schemas.openxmlformats.org/drawingml/2006/main">
            <a:off x="1000125" y="4305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7C6256"/>
                </a:solidFill>
              </a:defRPr>
            </a:pPr>
            <a:r>
              <a:rPr sz="1200" b="0">
                <a:solidFill>
                  <a:srgbClr val="7C6256"/>
                </a:solidFill>
              </a:rPr>
              <a:t>Share of classified mentions</a:t>
            </a:r>
          </a:p>
        </p:txBody>
      </p:sp>
      <p:sp>
        <p:nvSpPr>
          <p:cNvPr id="11" name="">
            <a:extLst xmlns:a="http://schemas.openxmlformats.org/drawingml/2006/main">
              <a:ext uri="{FF2B5EF4-FFF2-40B4-BE49-F238E27FC236}">
                <a16:creationId xmlns:a16="http://schemas.microsoft.com/office/drawing/2014/main" id="{A073B13B-02DD-4784-BA4D-E21A15284809}"/>
              </a:ext>
            </a:extLst>
          </p:cNvPr>
          <p:cNvSpPr>
            <a:spLocks xmlns:a="http://schemas.openxmlformats.org/drawingml/2006/main" noGrp="1"/>
          </p:cNvSpPr>
          <p:nvPr/>
        </p:nvSpPr>
        <p:spPr>
          <a:xfrm xmlns:a="http://schemas.openxmlformats.org/drawingml/2006/main">
            <a:off x="7239000" y="1857375"/>
            <a:ext cx="76200" cy="723900"/>
          </a:xfrm>
          <a:prstGeom xmlns:a="http://schemas.openxmlformats.org/drawingml/2006/main" prst="rect">
            <a:avLst/>
          </a:prstGeom>
          <a:solidFill xmlns:a="http://schemas.openxmlformats.org/drawingml/2006/main">
            <a:srgbClr val="287A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EB4157A-FAB4-455D-B398-E821D87E3B7A}"/>
              </a:ext>
            </a:extLst>
          </p:cNvPr>
          <p:cNvSpPr>
            <a:spLocks xmlns:a="http://schemas.openxmlformats.org/drawingml/2006/main" noGrp="1"/>
          </p:cNvSpPr>
          <p:nvPr/>
        </p:nvSpPr>
        <p:spPr>
          <a:xfrm xmlns:a="http://schemas.openxmlformats.org/drawingml/2006/main">
            <a:off x="7524750" y="1857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150E"/>
                </a:solidFill>
              </a:defRPr>
            </a:pPr>
            <a:r>
              <a:rPr sz="1650" b="1">
                <a:solidFill>
                  <a:srgbClr val="24150E"/>
                </a:solidFill>
              </a:rPr>
              <a:t>Positive</a:t>
            </a:r>
          </a:p>
        </p:txBody>
      </p:sp>
      <p:sp>
        <p:nvSpPr>
          <p:cNvPr id="13" name="">
            <a:extLst xmlns:a="http://schemas.openxmlformats.org/drawingml/2006/main">
              <a:ext uri="{FF2B5EF4-FFF2-40B4-BE49-F238E27FC236}">
                <a16:creationId xmlns:a16="http://schemas.microsoft.com/office/drawing/2014/main" id="{179DA8C8-E2FA-4373-9EB2-79CE53B82095}"/>
              </a:ext>
            </a:extLst>
          </p:cNvPr>
          <p:cNvSpPr>
            <a:spLocks xmlns:a="http://schemas.openxmlformats.org/drawingml/2006/main" noGrp="1"/>
          </p:cNvSpPr>
          <p:nvPr/>
        </p:nvSpPr>
        <p:spPr>
          <a:xfrm xmlns:a="http://schemas.openxmlformats.org/drawingml/2006/main">
            <a:off x="9810750" y="18097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250" b="1">
                <a:solidFill>
                  <a:srgbClr val="287A55"/>
                </a:solidFill>
              </a:defRPr>
            </a:pPr>
            <a:r>
              <a:rPr sz="2250" b="1">
                <a:solidFill>
                  <a:srgbClr val="287A55"/>
                </a:solidFill>
              </a:rPr>
              <a:t>7.0%</a:t>
            </a:r>
          </a:p>
        </p:txBody>
      </p:sp>
      <p:sp>
        <p:nvSpPr>
          <p:cNvPr id="14" name="">
            <a:extLst xmlns:a="http://schemas.openxmlformats.org/drawingml/2006/main">
              <a:ext uri="{FF2B5EF4-FFF2-40B4-BE49-F238E27FC236}">
                <a16:creationId xmlns:a16="http://schemas.microsoft.com/office/drawing/2014/main" id="{727E4B84-75EC-4377-9341-A02C525982A3}"/>
              </a:ext>
            </a:extLst>
          </p:cNvPr>
          <p:cNvSpPr>
            <a:spLocks xmlns:a="http://schemas.openxmlformats.org/drawingml/2006/main" noGrp="1"/>
          </p:cNvSpPr>
          <p:nvPr/>
        </p:nvSpPr>
        <p:spPr>
          <a:xfrm xmlns:a="http://schemas.openxmlformats.org/drawingml/2006/main">
            <a:off x="7524750" y="2247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72 mentions</a:t>
            </a:r>
          </a:p>
        </p:txBody>
      </p:sp>
      <p:sp>
        <p:nvSpPr>
          <p:cNvPr id="15" name="">
            <a:extLst xmlns:a="http://schemas.openxmlformats.org/drawingml/2006/main">
              <a:ext uri="{FF2B5EF4-FFF2-40B4-BE49-F238E27FC236}">
                <a16:creationId xmlns:a16="http://schemas.microsoft.com/office/drawing/2014/main" id="{15D2E2E8-70A1-40AC-9919-7832D8A5BACF}"/>
              </a:ext>
            </a:extLst>
          </p:cNvPr>
          <p:cNvSpPr>
            <a:spLocks xmlns:a="http://schemas.openxmlformats.org/drawingml/2006/main" noGrp="1"/>
          </p:cNvSpPr>
          <p:nvPr/>
        </p:nvSpPr>
        <p:spPr>
          <a:xfrm xmlns:a="http://schemas.openxmlformats.org/drawingml/2006/main">
            <a:off x="7239000" y="3000375"/>
            <a:ext cx="76200" cy="723900"/>
          </a:xfrm>
          <a:prstGeom xmlns:a="http://schemas.openxmlformats.org/drawingml/2006/main" prst="rect">
            <a:avLst/>
          </a:prstGeom>
          <a:solidFill xmlns:a="http://schemas.openxmlformats.org/drawingml/2006/main">
            <a:srgbClr val="6C78A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96656C-C362-4D2F-8BAA-EF831E5A5623}"/>
              </a:ext>
            </a:extLst>
          </p:cNvPr>
          <p:cNvSpPr>
            <a:spLocks xmlns:a="http://schemas.openxmlformats.org/drawingml/2006/main" noGrp="1"/>
          </p:cNvSpPr>
          <p:nvPr/>
        </p:nvSpPr>
        <p:spPr>
          <a:xfrm xmlns:a="http://schemas.openxmlformats.org/drawingml/2006/main">
            <a:off x="752475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150E"/>
                </a:solidFill>
              </a:defRPr>
            </a:pPr>
            <a:r>
              <a:rPr sz="1650" b="1">
                <a:solidFill>
                  <a:srgbClr val="24150E"/>
                </a:solidFill>
              </a:rPr>
              <a:t>Neutral</a:t>
            </a:r>
          </a:p>
        </p:txBody>
      </p:sp>
      <p:sp>
        <p:nvSpPr>
          <p:cNvPr id="17" name="">
            <a:extLst xmlns:a="http://schemas.openxmlformats.org/drawingml/2006/main">
              <a:ext uri="{FF2B5EF4-FFF2-40B4-BE49-F238E27FC236}">
                <a16:creationId xmlns:a16="http://schemas.microsoft.com/office/drawing/2014/main" id="{34ACE875-518D-4B85-B970-20DC70FF2423}"/>
              </a:ext>
            </a:extLst>
          </p:cNvPr>
          <p:cNvSpPr>
            <a:spLocks xmlns:a="http://schemas.openxmlformats.org/drawingml/2006/main" noGrp="1"/>
          </p:cNvSpPr>
          <p:nvPr/>
        </p:nvSpPr>
        <p:spPr>
          <a:xfrm xmlns:a="http://schemas.openxmlformats.org/drawingml/2006/main">
            <a:off x="9810750" y="29527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250" b="1">
                <a:solidFill>
                  <a:srgbClr val="6C78A2"/>
                </a:solidFill>
              </a:defRPr>
            </a:pPr>
            <a:r>
              <a:rPr sz="2250" b="1">
                <a:solidFill>
                  <a:srgbClr val="6C78A2"/>
                </a:solidFill>
              </a:rPr>
              <a:t>70.0%</a:t>
            </a:r>
          </a:p>
        </p:txBody>
      </p:sp>
      <p:sp>
        <p:nvSpPr>
          <p:cNvPr id="18" name="">
            <a:extLst xmlns:a="http://schemas.openxmlformats.org/drawingml/2006/main">
              <a:ext uri="{FF2B5EF4-FFF2-40B4-BE49-F238E27FC236}">
                <a16:creationId xmlns:a16="http://schemas.microsoft.com/office/drawing/2014/main" id="{613D850E-B1CB-4195-94C1-FDB7962A55A8}"/>
              </a:ext>
            </a:extLst>
          </p:cNvPr>
          <p:cNvSpPr>
            <a:spLocks xmlns:a="http://schemas.openxmlformats.org/drawingml/2006/main" noGrp="1"/>
          </p:cNvSpPr>
          <p:nvPr/>
        </p:nvSpPr>
        <p:spPr>
          <a:xfrm xmlns:a="http://schemas.openxmlformats.org/drawingml/2006/main">
            <a:off x="7524750" y="3390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725 mentions</a:t>
            </a:r>
          </a:p>
        </p:txBody>
      </p:sp>
      <p:sp>
        <p:nvSpPr>
          <p:cNvPr id="19" name="">
            <a:extLst xmlns:a="http://schemas.openxmlformats.org/drawingml/2006/main">
              <a:ext uri="{FF2B5EF4-FFF2-40B4-BE49-F238E27FC236}">
                <a16:creationId xmlns:a16="http://schemas.microsoft.com/office/drawing/2014/main" id="{A09A69BB-3350-4091-A218-25D18119F168}"/>
              </a:ext>
            </a:extLst>
          </p:cNvPr>
          <p:cNvSpPr>
            <a:spLocks xmlns:a="http://schemas.openxmlformats.org/drawingml/2006/main" noGrp="1"/>
          </p:cNvSpPr>
          <p:nvPr/>
        </p:nvSpPr>
        <p:spPr>
          <a:xfrm xmlns:a="http://schemas.openxmlformats.org/drawingml/2006/main">
            <a:off x="7239000" y="4143375"/>
            <a:ext cx="76200" cy="723900"/>
          </a:xfrm>
          <a:prstGeom xmlns:a="http://schemas.openxmlformats.org/drawingml/2006/main" prst="rect">
            <a:avLst/>
          </a:prstGeom>
          <a:solidFill xmlns:a="http://schemas.openxmlformats.org/drawingml/2006/main">
            <a:srgbClr val="C84B3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01CC28-2E34-41D4-96BA-7D1E86F09D43}"/>
              </a:ext>
            </a:extLst>
          </p:cNvPr>
          <p:cNvSpPr>
            <a:spLocks xmlns:a="http://schemas.openxmlformats.org/drawingml/2006/main" noGrp="1"/>
          </p:cNvSpPr>
          <p:nvPr/>
        </p:nvSpPr>
        <p:spPr>
          <a:xfrm xmlns:a="http://schemas.openxmlformats.org/drawingml/2006/main">
            <a:off x="7524750" y="4143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150E"/>
                </a:solidFill>
              </a:defRPr>
            </a:pPr>
            <a:r>
              <a:rPr sz="1650" b="1">
                <a:solidFill>
                  <a:srgbClr val="24150E"/>
                </a:solidFill>
              </a:rPr>
              <a:t>Negative</a:t>
            </a:r>
          </a:p>
        </p:txBody>
      </p:sp>
      <p:sp>
        <p:nvSpPr>
          <p:cNvPr id="21" name="">
            <a:extLst xmlns:a="http://schemas.openxmlformats.org/drawingml/2006/main">
              <a:ext uri="{FF2B5EF4-FFF2-40B4-BE49-F238E27FC236}">
                <a16:creationId xmlns:a16="http://schemas.microsoft.com/office/drawing/2014/main" id="{62560D34-E86B-4EB7-B18C-8115436B385C}"/>
              </a:ext>
            </a:extLst>
          </p:cNvPr>
          <p:cNvSpPr>
            <a:spLocks xmlns:a="http://schemas.openxmlformats.org/drawingml/2006/main" noGrp="1"/>
          </p:cNvSpPr>
          <p:nvPr/>
        </p:nvSpPr>
        <p:spPr>
          <a:xfrm xmlns:a="http://schemas.openxmlformats.org/drawingml/2006/main">
            <a:off x="9810750" y="40957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250" b="1">
                <a:solidFill>
                  <a:srgbClr val="C84B38"/>
                </a:solidFill>
              </a:defRPr>
            </a:pPr>
            <a:r>
              <a:rPr sz="2250" b="1">
                <a:solidFill>
                  <a:srgbClr val="C84B38"/>
                </a:solidFill>
              </a:rPr>
              <a:t>23.0%</a:t>
            </a:r>
          </a:p>
        </p:txBody>
      </p:sp>
      <p:sp>
        <p:nvSpPr>
          <p:cNvPr id="22" name="">
            <a:extLst xmlns:a="http://schemas.openxmlformats.org/drawingml/2006/main">
              <a:ext uri="{FF2B5EF4-FFF2-40B4-BE49-F238E27FC236}">
                <a16:creationId xmlns:a16="http://schemas.microsoft.com/office/drawing/2014/main" id="{6A33E34E-8CA1-4253-940F-06938EBB9876}"/>
              </a:ext>
            </a:extLst>
          </p:cNvPr>
          <p:cNvSpPr>
            <a:spLocks xmlns:a="http://schemas.openxmlformats.org/drawingml/2006/main" noGrp="1"/>
          </p:cNvSpPr>
          <p:nvPr/>
        </p:nvSpPr>
        <p:spPr>
          <a:xfrm xmlns:a="http://schemas.openxmlformats.org/drawingml/2006/main">
            <a:off x="7524750" y="4533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238 mentions</a:t>
            </a:r>
          </a:p>
        </p:txBody>
      </p:sp>
      <p:sp>
        <p:nvSpPr>
          <p:cNvPr id="23" name="">
            <a:extLst xmlns:a="http://schemas.openxmlformats.org/drawingml/2006/main">
              <a:ext uri="{FF2B5EF4-FFF2-40B4-BE49-F238E27FC236}">
                <a16:creationId xmlns:a16="http://schemas.microsoft.com/office/drawing/2014/main" id="{2CA606AA-3111-4435-AB8C-E6A9678FB853}"/>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24" name="">
            <a:extLst xmlns:a="http://schemas.openxmlformats.org/drawingml/2006/main">
              <a:ext uri="{FF2B5EF4-FFF2-40B4-BE49-F238E27FC236}">
                <a16:creationId xmlns:a16="http://schemas.microsoft.com/office/drawing/2014/main" id="{0188FD76-8D5A-4E95-9E8C-DDB2B6FB0A90}"/>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25" name="">
            <a:extLst xmlns:a="http://schemas.openxmlformats.org/drawingml/2006/main">
              <a:ext uri="{FF2B5EF4-FFF2-40B4-BE49-F238E27FC236}">
                <a16:creationId xmlns:a16="http://schemas.microsoft.com/office/drawing/2014/main" id="{F821B7C9-A8EA-4E9F-8335-ABE15B6EFA44}"/>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356465240"/>
      </p:ext>
    </p:extLst>
  </p:cSld>
</p:sld>
</file>

<file path=ppt/slides/slide6.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D64ADE-3F83-4A78-A639-506C5CD9F73E}"/>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EFBA2C-0957-45BC-B653-2F0626117678}"/>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TOPICS AND SHARE OF VOICE</a:t>
            </a:r>
          </a:p>
        </p:txBody>
      </p:sp>
      <p:sp>
        <p:nvSpPr>
          <p:cNvPr id="3" name="slide-6-title">
            <a:extLst xmlns:a="http://schemas.openxmlformats.org/drawingml/2006/main">
              <a:ext uri="{FF2B5EF4-FFF2-40B4-BE49-F238E27FC236}">
                <a16:creationId xmlns:a16="http://schemas.microsoft.com/office/drawing/2014/main" id="{2921E3C4-D568-4BC7-8922-8E976F9BD3F7}"/>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The leading themes reveal where attention clustered</a:t>
            </a:r>
          </a:p>
        </p:txBody>
      </p:sp>
      <p:sp>
        <p:nvSpPr>
          <p:cNvPr id="4" name="">
            <a:extLst xmlns:a="http://schemas.openxmlformats.org/drawingml/2006/main">
              <a:ext uri="{FF2B5EF4-FFF2-40B4-BE49-F238E27FC236}">
                <a16:creationId xmlns:a16="http://schemas.microsoft.com/office/drawing/2014/main" id="{B2BD4408-1445-475B-ADF7-0B4C7A407417}"/>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06</a:t>
            </a:r>
          </a:p>
        </p:txBody>
      </p:sp>
      <p:graphicFrame>
        <p:nvGraphicFramePr>
          <p:cNvPr id="22" name="Chart"/>
          <p:cNvGraphicFramePr/>
          <p:nvPr/>
        </p:nvGraphicFramePr>
        <p:xfrm>
          <a:off xmlns:a="http://schemas.openxmlformats.org/drawingml/2006/main" x="666750" y="1524000"/>
          <a:ext xmlns:a="http://schemas.openxmlformats.org/drawingml/2006/main" cx="6286500" cy="4095750"/>
        </p:xfrm>
        <a:graphic xmlns:a="http://schemas.openxmlformats.org/drawingml/2006/main">
          <a:graphicData uri="http://schemas.openxmlformats.org/drawingml/2006/chart">
            <c:chart xmlns:r="http://schemas.openxmlformats.org/officeDocument/2006/relationships" xmlns:c="http://schemas.openxmlformats.org/drawingml/2006/chart" r:id="R950426ac972840cb"/>
          </a:graphicData>
        </a:graphic>
      </p:graphicFrame>
      <p:sp>
        <p:nvSpPr>
          <p:cNvPr id="6" name="">
            <a:extLst xmlns:a="http://schemas.openxmlformats.org/drawingml/2006/main">
              <a:ext uri="{FF2B5EF4-FFF2-40B4-BE49-F238E27FC236}">
                <a16:creationId xmlns:a16="http://schemas.microsoft.com/office/drawing/2014/main" id="{39546AA2-3D90-48AD-BFAD-94EE29079BC3}"/>
              </a:ext>
            </a:extLst>
          </p:cNvPr>
          <p:cNvSpPr>
            <a:spLocks xmlns:a="http://schemas.openxmlformats.org/drawingml/2006/main" noGrp="1"/>
          </p:cNvSpPr>
          <p:nvPr/>
        </p:nvSpPr>
        <p:spPr>
          <a:xfrm xmlns:a="http://schemas.openxmlformats.org/drawingml/2006/main">
            <a:off x="7477125" y="16668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3A18"/>
                </a:solidFill>
              </a:defRPr>
            </a:pPr>
            <a:r>
              <a:rPr sz="1500" b="1">
                <a:solidFill>
                  <a:srgbClr val="B83A18"/>
                </a:solidFill>
              </a:rPr>
              <a:t>1</a:t>
            </a:r>
          </a:p>
        </p:txBody>
      </p:sp>
      <p:sp>
        <p:nvSpPr>
          <p:cNvPr id="7" name="">
            <a:extLst xmlns:a="http://schemas.openxmlformats.org/drawingml/2006/main">
              <a:ext uri="{FF2B5EF4-FFF2-40B4-BE49-F238E27FC236}">
                <a16:creationId xmlns:a16="http://schemas.microsoft.com/office/drawing/2014/main" id="{354A70F5-AD84-4B24-BD03-757D110DF204}"/>
              </a:ext>
            </a:extLst>
          </p:cNvPr>
          <p:cNvSpPr>
            <a:spLocks xmlns:a="http://schemas.openxmlformats.org/drawingml/2006/main" noGrp="1"/>
          </p:cNvSpPr>
          <p:nvPr/>
        </p:nvSpPr>
        <p:spPr>
          <a:xfrm xmlns:a="http://schemas.openxmlformats.org/drawingml/2006/main">
            <a:off x="8048625" y="16668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150E"/>
                </a:solidFill>
              </a:defRPr>
            </a:pPr>
            <a:r>
              <a:rPr sz="1575" b="1">
                <a:solidFill>
                  <a:srgbClr val="24150E"/>
                </a:solidFill>
              </a:rPr>
              <a:t>Malaysian Political Social Posts</a:t>
            </a:r>
          </a:p>
        </p:txBody>
      </p:sp>
      <p:sp>
        <p:nvSpPr>
          <p:cNvPr id="8" name="">
            <a:extLst xmlns:a="http://schemas.openxmlformats.org/drawingml/2006/main">
              <a:ext uri="{FF2B5EF4-FFF2-40B4-BE49-F238E27FC236}">
                <a16:creationId xmlns:a16="http://schemas.microsoft.com/office/drawing/2014/main" id="{2D7F0F5B-431C-4822-BD78-CD06A5EBE5DE}"/>
              </a:ext>
            </a:extLst>
          </p:cNvPr>
          <p:cNvSpPr>
            <a:spLocks xmlns:a="http://schemas.openxmlformats.org/drawingml/2006/main" noGrp="1"/>
          </p:cNvSpPr>
          <p:nvPr/>
        </p:nvSpPr>
        <p:spPr>
          <a:xfrm xmlns:a="http://schemas.openxmlformats.org/drawingml/2006/main">
            <a:off x="8048625" y="2066925"/>
            <a:ext cx="342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Miscellaneous social media posts mixing Malaysian political hashtags, community events, and unrelated trending topics.</a:t>
            </a:r>
          </a:p>
        </p:txBody>
      </p:sp>
      <p:sp>
        <p:nvSpPr>
          <p:cNvPr id="9" name="">
            <a:extLst xmlns:a="http://schemas.openxmlformats.org/drawingml/2006/main">
              <a:ext uri="{FF2B5EF4-FFF2-40B4-BE49-F238E27FC236}">
                <a16:creationId xmlns:a16="http://schemas.microsoft.com/office/drawing/2014/main" id="{C1BBA187-5552-4052-B006-E1E7B6E99F55}"/>
              </a:ext>
            </a:extLst>
          </p:cNvPr>
          <p:cNvSpPr>
            <a:spLocks xmlns:a="http://schemas.openxmlformats.org/drawingml/2006/main" noGrp="1"/>
          </p:cNvSpPr>
          <p:nvPr/>
        </p:nvSpPr>
        <p:spPr>
          <a:xfrm xmlns:a="http://schemas.openxmlformats.org/drawingml/2006/main">
            <a:off x="7477125" y="2981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3A18"/>
                </a:solidFill>
              </a:defRPr>
            </a:pPr>
            <a:r>
              <a:rPr sz="1500" b="1">
                <a:solidFill>
                  <a:srgbClr val="B83A18"/>
                </a:solidFill>
              </a:rPr>
              <a:t>2</a:t>
            </a:r>
          </a:p>
        </p:txBody>
      </p:sp>
      <p:sp>
        <p:nvSpPr>
          <p:cNvPr id="10" name="">
            <a:extLst xmlns:a="http://schemas.openxmlformats.org/drawingml/2006/main">
              <a:ext uri="{FF2B5EF4-FFF2-40B4-BE49-F238E27FC236}">
                <a16:creationId xmlns:a16="http://schemas.microsoft.com/office/drawing/2014/main" id="{0BBE2E36-4DAF-4097-B4AF-D071A8B330C2}"/>
              </a:ext>
            </a:extLst>
          </p:cNvPr>
          <p:cNvSpPr>
            <a:spLocks xmlns:a="http://schemas.openxmlformats.org/drawingml/2006/main" noGrp="1"/>
          </p:cNvSpPr>
          <p:nvPr/>
        </p:nvSpPr>
        <p:spPr>
          <a:xfrm xmlns:a="http://schemas.openxmlformats.org/drawingml/2006/main">
            <a:off x="8048625" y="29813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150E"/>
                </a:solidFill>
              </a:defRPr>
            </a:pPr>
            <a:r>
              <a:rPr sz="1575" b="1">
                <a:solidFill>
                  <a:srgbClr val="24150E"/>
                </a:solidFill>
              </a:rPr>
              <a:t>Malaysian Political Landscape</a:t>
            </a:r>
          </a:p>
        </p:txBody>
      </p:sp>
      <p:sp>
        <p:nvSpPr>
          <p:cNvPr id="11" name="">
            <a:extLst xmlns:a="http://schemas.openxmlformats.org/drawingml/2006/main">
              <a:ext uri="{FF2B5EF4-FFF2-40B4-BE49-F238E27FC236}">
                <a16:creationId xmlns:a16="http://schemas.microsoft.com/office/drawing/2014/main" id="{4E072677-A916-4AEE-AE9D-588176C4F6F1}"/>
              </a:ext>
            </a:extLst>
          </p:cNvPr>
          <p:cNvSpPr>
            <a:spLocks xmlns:a="http://schemas.openxmlformats.org/drawingml/2006/main" noGrp="1"/>
          </p:cNvSpPr>
          <p:nvPr/>
        </p:nvSpPr>
        <p:spPr>
          <a:xfrm xmlns:a="http://schemas.openxmlformats.org/drawingml/2006/main">
            <a:off x="8048625" y="3381375"/>
            <a:ext cx="342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Analysis and commentary on Malaysian political parties, elections, and the broader political landscape involving BN, PH, and PN.</a:t>
            </a:r>
          </a:p>
        </p:txBody>
      </p:sp>
      <p:sp>
        <p:nvSpPr>
          <p:cNvPr id="12" name="">
            <a:extLst xmlns:a="http://schemas.openxmlformats.org/drawingml/2006/main">
              <a:ext uri="{FF2B5EF4-FFF2-40B4-BE49-F238E27FC236}">
                <a16:creationId xmlns:a16="http://schemas.microsoft.com/office/drawing/2014/main" id="{85E1DA39-BA5A-4E96-B580-C2EECEEECB12}"/>
              </a:ext>
            </a:extLst>
          </p:cNvPr>
          <p:cNvSpPr>
            <a:spLocks xmlns:a="http://schemas.openxmlformats.org/drawingml/2006/main" noGrp="1"/>
          </p:cNvSpPr>
          <p:nvPr/>
        </p:nvSpPr>
        <p:spPr>
          <a:xfrm xmlns:a="http://schemas.openxmlformats.org/drawingml/2006/main">
            <a:off x="7477125" y="42957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3A18"/>
                </a:solidFill>
              </a:defRPr>
            </a:pPr>
            <a:r>
              <a:rPr sz="1500" b="1">
                <a:solidFill>
                  <a:srgbClr val="B83A18"/>
                </a:solidFill>
              </a:rPr>
              <a:t>3</a:t>
            </a:r>
          </a:p>
        </p:txBody>
      </p:sp>
      <p:sp>
        <p:nvSpPr>
          <p:cNvPr id="13" name="">
            <a:extLst xmlns:a="http://schemas.openxmlformats.org/drawingml/2006/main">
              <a:ext uri="{FF2B5EF4-FFF2-40B4-BE49-F238E27FC236}">
                <a16:creationId xmlns:a16="http://schemas.microsoft.com/office/drawing/2014/main" id="{1AAA8B58-0E62-4B10-A8D1-6A122693D8BC}"/>
              </a:ext>
            </a:extLst>
          </p:cNvPr>
          <p:cNvSpPr>
            <a:spLocks xmlns:a="http://schemas.openxmlformats.org/drawingml/2006/main" noGrp="1"/>
          </p:cNvSpPr>
          <p:nvPr/>
        </p:nvSpPr>
        <p:spPr>
          <a:xfrm xmlns:a="http://schemas.openxmlformats.org/drawingml/2006/main">
            <a:off x="8048625" y="42957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4150E"/>
                </a:solidFill>
              </a:defRPr>
            </a:pPr>
            <a:r>
              <a:rPr sz="1575" b="1">
                <a:solidFill>
                  <a:srgbClr val="24150E"/>
                </a:solidFill>
              </a:rPr>
              <a:t>Tabung Haji RCI Scandal</a:t>
            </a:r>
          </a:p>
        </p:txBody>
      </p:sp>
      <p:sp>
        <p:nvSpPr>
          <p:cNvPr id="14" name="">
            <a:extLst xmlns:a="http://schemas.openxmlformats.org/drawingml/2006/main">
              <a:ext uri="{FF2B5EF4-FFF2-40B4-BE49-F238E27FC236}">
                <a16:creationId xmlns:a16="http://schemas.microsoft.com/office/drawing/2014/main" id="{701A69D0-E9F4-4AEE-AD5A-9A56A775ABA0}"/>
              </a:ext>
            </a:extLst>
          </p:cNvPr>
          <p:cNvSpPr>
            <a:spLocks xmlns:a="http://schemas.openxmlformats.org/drawingml/2006/main" noGrp="1"/>
          </p:cNvSpPr>
          <p:nvPr/>
        </p:nvSpPr>
        <p:spPr>
          <a:xfrm xmlns:a="http://schemas.openxmlformats.org/drawingml/2006/main">
            <a:off x="8048625" y="4695825"/>
            <a:ext cx="342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Public reactions and debates surrounding the Royal Commission of Inquiry into Tabung Haji and related corruption allegations.</a:t>
            </a:r>
          </a:p>
        </p:txBody>
      </p:sp>
      <p:sp>
        <p:nvSpPr>
          <p:cNvPr id="15" name="">
            <a:extLst xmlns:a="http://schemas.openxmlformats.org/drawingml/2006/main">
              <a:ext uri="{FF2B5EF4-FFF2-40B4-BE49-F238E27FC236}">
                <a16:creationId xmlns:a16="http://schemas.microsoft.com/office/drawing/2014/main" id="{76EDAD8A-CBE6-42E3-8B74-00CA8532D4DD}"/>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16" name="">
            <a:extLst xmlns:a="http://schemas.openxmlformats.org/drawingml/2006/main">
              <a:ext uri="{FF2B5EF4-FFF2-40B4-BE49-F238E27FC236}">
                <a16:creationId xmlns:a16="http://schemas.microsoft.com/office/drawing/2014/main" id="{C5E86BC0-D66F-4EAC-B2EE-AA28184597F9}"/>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17" name="">
            <a:extLst xmlns:a="http://schemas.openxmlformats.org/drawingml/2006/main">
              <a:ext uri="{FF2B5EF4-FFF2-40B4-BE49-F238E27FC236}">
                <a16:creationId xmlns:a16="http://schemas.microsoft.com/office/drawing/2014/main" id="{5775DADA-52CB-4B7F-A078-590349D788CD}"/>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1067350665"/>
      </p:ext>
    </p:extLst>
  </p:cSld>
</p:sld>
</file>

<file path=ppt/slides/slide7.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671F34B-046B-43DF-AFF2-FEB4D0A33FDB}"/>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764E60-00E0-4D64-B0EF-98C31FA99BE0}"/>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WHO AND WHERE</a:t>
            </a:r>
          </a:p>
        </p:txBody>
      </p:sp>
      <p:sp>
        <p:nvSpPr>
          <p:cNvPr id="3" name="slide-7-title">
            <a:extLst xmlns:a="http://schemas.openxmlformats.org/drawingml/2006/main">
              <a:ext uri="{FF2B5EF4-FFF2-40B4-BE49-F238E27FC236}">
                <a16:creationId xmlns:a16="http://schemas.microsoft.com/office/drawing/2014/main" id="{2A556A78-A1A2-4F14-875A-109C4B9953C5}"/>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Visibility came from both publishers and influential voices</a:t>
            </a:r>
          </a:p>
        </p:txBody>
      </p:sp>
      <p:sp>
        <p:nvSpPr>
          <p:cNvPr id="4" name="">
            <a:extLst xmlns:a="http://schemas.openxmlformats.org/drawingml/2006/main">
              <a:ext uri="{FF2B5EF4-FFF2-40B4-BE49-F238E27FC236}">
                <a16:creationId xmlns:a16="http://schemas.microsoft.com/office/drawing/2014/main" id="{12511FB7-7CFB-47D0-AA51-33FDF812F734}"/>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07</a:t>
            </a:r>
          </a:p>
        </p:txBody>
      </p:sp>
      <p:sp>
        <p:nvSpPr>
          <p:cNvPr id="5" name="">
            <a:extLst xmlns:a="http://schemas.openxmlformats.org/drawingml/2006/main">
              <a:ext uri="{FF2B5EF4-FFF2-40B4-BE49-F238E27FC236}">
                <a16:creationId xmlns:a16="http://schemas.microsoft.com/office/drawing/2014/main" id="{5FFFCEC2-7664-4AC3-8019-26DBA1945A0A}"/>
              </a:ext>
            </a:extLst>
          </p:cNvPr>
          <p:cNvSpPr>
            <a:spLocks xmlns:a="http://schemas.openxmlformats.org/drawingml/2006/main" noGrp="1"/>
          </p:cNvSpPr>
          <p:nvPr/>
        </p:nvSpPr>
        <p:spPr>
          <a:xfrm xmlns:a="http://schemas.openxmlformats.org/drawingml/2006/main">
            <a:off x="666750" y="1476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B83A18"/>
                </a:solidFill>
              </a:defRPr>
            </a:pPr>
            <a:r>
              <a:rPr sz="1950" b="1">
                <a:solidFill>
                  <a:srgbClr val="B83A18"/>
                </a:solidFill>
              </a:rPr>
              <a:t>Leading domains</a:t>
            </a:r>
          </a:p>
        </p:txBody>
      </p:sp>
      <p:sp>
        <p:nvSpPr>
          <p:cNvPr id="6" name="">
            <a:extLst xmlns:a="http://schemas.openxmlformats.org/drawingml/2006/main">
              <a:ext uri="{FF2B5EF4-FFF2-40B4-BE49-F238E27FC236}">
                <a16:creationId xmlns:a16="http://schemas.microsoft.com/office/drawing/2014/main" id="{E8EA1506-24FF-4D7B-81FF-24E996B0276F}"/>
              </a:ext>
            </a:extLst>
          </p:cNvPr>
          <p:cNvSpPr>
            <a:spLocks xmlns:a="http://schemas.openxmlformats.org/drawingml/2006/main" noGrp="1"/>
          </p:cNvSpPr>
          <p:nvPr/>
        </p:nvSpPr>
        <p:spPr>
          <a:xfrm xmlns:a="http://schemas.openxmlformats.org/drawingml/2006/main">
            <a:off x="6477000" y="1476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B83A18"/>
                </a:solidFill>
              </a:defRPr>
            </a:pPr>
            <a:r>
              <a:rPr sz="1950" b="1">
                <a:solidFill>
                  <a:srgbClr val="B83A18"/>
                </a:solidFill>
              </a:rPr>
              <a:t>Influential authors</a:t>
            </a:r>
          </a:p>
        </p:txBody>
      </p:sp>
      <p:sp>
        <p:nvSpPr>
          <p:cNvPr id="7" name="">
            <a:extLst xmlns:a="http://schemas.openxmlformats.org/drawingml/2006/main">
              <a:ext uri="{FF2B5EF4-FFF2-40B4-BE49-F238E27FC236}">
                <a16:creationId xmlns:a16="http://schemas.microsoft.com/office/drawing/2014/main" id="{DFEBB6CA-EA34-44AD-A3F9-B7B1DA35D8A3}"/>
              </a:ext>
            </a:extLst>
          </p:cNvPr>
          <p:cNvSpPr>
            <a:spLocks xmlns:a="http://schemas.openxmlformats.org/drawingml/2006/main" noGrp="1"/>
          </p:cNvSpPr>
          <p:nvPr/>
        </p:nvSpPr>
        <p:spPr>
          <a:xfrm xmlns:a="http://schemas.openxmlformats.org/drawingml/2006/main">
            <a:off x="666750" y="2095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83A18"/>
                </a:solidFill>
              </a:defRPr>
            </a:pPr>
            <a:r>
              <a:rPr sz="1350" b="1">
                <a:solidFill>
                  <a:srgbClr val="B83A18"/>
                </a:solidFill>
              </a:rPr>
              <a:t>1</a:t>
            </a:r>
          </a:p>
        </p:txBody>
      </p:sp>
      <p:sp>
        <p:nvSpPr>
          <p:cNvPr id="8" name="">
            <a:extLst xmlns:a="http://schemas.openxmlformats.org/drawingml/2006/main">
              <a:ext uri="{FF2B5EF4-FFF2-40B4-BE49-F238E27FC236}">
                <a16:creationId xmlns:a16="http://schemas.microsoft.com/office/drawing/2014/main" id="{A7AB7E51-0619-43A4-9230-0BD76975451A}"/>
              </a:ext>
            </a:extLst>
          </p:cNvPr>
          <p:cNvSpPr>
            <a:spLocks xmlns:a="http://schemas.openxmlformats.org/drawingml/2006/main" noGrp="1"/>
          </p:cNvSpPr>
          <p:nvPr/>
        </p:nvSpPr>
        <p:spPr>
          <a:xfrm xmlns:a="http://schemas.openxmlformats.org/drawingml/2006/main">
            <a:off x="1143000" y="209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youtube.com</a:t>
            </a:r>
          </a:p>
        </p:txBody>
      </p:sp>
      <p:sp>
        <p:nvSpPr>
          <p:cNvPr id="9" name="">
            <a:extLst xmlns:a="http://schemas.openxmlformats.org/drawingml/2006/main">
              <a:ext uri="{FF2B5EF4-FFF2-40B4-BE49-F238E27FC236}">
                <a16:creationId xmlns:a16="http://schemas.microsoft.com/office/drawing/2014/main" id="{C94E7CA8-7261-44B6-A138-9ADC8C9EA4B6}"/>
              </a:ext>
            </a:extLst>
          </p:cNvPr>
          <p:cNvSpPr>
            <a:spLocks xmlns:a="http://schemas.openxmlformats.org/drawingml/2006/main" noGrp="1"/>
          </p:cNvSpPr>
          <p:nvPr/>
        </p:nvSpPr>
        <p:spPr>
          <a:xfrm xmlns:a="http://schemas.openxmlformats.org/drawingml/2006/main">
            <a:off x="1143000" y="23812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509 mentions  •  2.2M reach</a:t>
            </a:r>
          </a:p>
        </p:txBody>
      </p:sp>
      <p:sp>
        <p:nvSpPr>
          <p:cNvPr id="10" name="">
            <a:extLst xmlns:a="http://schemas.openxmlformats.org/drawingml/2006/main">
              <a:ext uri="{FF2B5EF4-FFF2-40B4-BE49-F238E27FC236}">
                <a16:creationId xmlns:a16="http://schemas.microsoft.com/office/drawing/2014/main" id="{7EEDEFAF-FC62-46D3-A92D-14CB48111BB5}"/>
              </a:ext>
            </a:extLst>
          </p:cNvPr>
          <p:cNvSpPr>
            <a:spLocks xmlns:a="http://schemas.openxmlformats.org/drawingml/2006/main" noGrp="1"/>
          </p:cNvSpPr>
          <p:nvPr/>
        </p:nvSpPr>
        <p:spPr>
          <a:xfrm xmlns:a="http://schemas.openxmlformats.org/drawingml/2006/main">
            <a:off x="666750" y="27146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83A18"/>
                </a:solidFill>
              </a:defRPr>
            </a:pPr>
            <a:r>
              <a:rPr sz="1350" b="1">
                <a:solidFill>
                  <a:srgbClr val="B83A18"/>
                </a:solidFill>
              </a:rPr>
              <a:t>2</a:t>
            </a:r>
          </a:p>
        </p:txBody>
      </p:sp>
      <p:sp>
        <p:nvSpPr>
          <p:cNvPr id="11" name="">
            <a:extLst xmlns:a="http://schemas.openxmlformats.org/drawingml/2006/main">
              <a:ext uri="{FF2B5EF4-FFF2-40B4-BE49-F238E27FC236}">
                <a16:creationId xmlns:a16="http://schemas.microsoft.com/office/drawing/2014/main" id="{902F0CB4-16C9-4FDB-8A99-BC3AB85CAACD}"/>
              </a:ext>
            </a:extLst>
          </p:cNvPr>
          <p:cNvSpPr>
            <a:spLocks xmlns:a="http://schemas.openxmlformats.org/drawingml/2006/main" noGrp="1"/>
          </p:cNvSpPr>
          <p:nvPr/>
        </p:nvSpPr>
        <p:spPr>
          <a:xfrm xmlns:a="http://schemas.openxmlformats.org/drawingml/2006/main">
            <a:off x="1143000" y="2714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x.com</a:t>
            </a:r>
          </a:p>
        </p:txBody>
      </p:sp>
      <p:sp>
        <p:nvSpPr>
          <p:cNvPr id="12" name="">
            <a:extLst xmlns:a="http://schemas.openxmlformats.org/drawingml/2006/main">
              <a:ext uri="{FF2B5EF4-FFF2-40B4-BE49-F238E27FC236}">
                <a16:creationId xmlns:a16="http://schemas.microsoft.com/office/drawing/2014/main" id="{38AB11F3-881D-4037-9F05-94B0FB0FFA0E}"/>
              </a:ext>
            </a:extLst>
          </p:cNvPr>
          <p:cNvSpPr>
            <a:spLocks xmlns:a="http://schemas.openxmlformats.org/drawingml/2006/main" noGrp="1"/>
          </p:cNvSpPr>
          <p:nvPr/>
        </p:nvSpPr>
        <p:spPr>
          <a:xfrm xmlns:a="http://schemas.openxmlformats.org/drawingml/2006/main">
            <a:off x="1143000" y="300037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172 mentions  •  564K reach</a:t>
            </a:r>
          </a:p>
        </p:txBody>
      </p:sp>
      <p:sp>
        <p:nvSpPr>
          <p:cNvPr id="13" name="">
            <a:extLst xmlns:a="http://schemas.openxmlformats.org/drawingml/2006/main">
              <a:ext uri="{FF2B5EF4-FFF2-40B4-BE49-F238E27FC236}">
                <a16:creationId xmlns:a16="http://schemas.microsoft.com/office/drawing/2014/main" id="{B4E46026-1A5A-4666-9FF4-132F19B71BA9}"/>
              </a:ext>
            </a:extLst>
          </p:cNvPr>
          <p:cNvSpPr>
            <a:spLocks xmlns:a="http://schemas.openxmlformats.org/drawingml/2006/main" noGrp="1"/>
          </p:cNvSpPr>
          <p:nvPr/>
        </p:nvSpPr>
        <p:spPr>
          <a:xfrm xmlns:a="http://schemas.openxmlformats.org/drawingml/2006/main">
            <a:off x="666750" y="3333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83A18"/>
                </a:solidFill>
              </a:defRPr>
            </a:pPr>
            <a:r>
              <a:rPr sz="1350" b="1">
                <a:solidFill>
                  <a:srgbClr val="B83A18"/>
                </a:solidFill>
              </a:rPr>
              <a:t>3</a:t>
            </a:r>
          </a:p>
        </p:txBody>
      </p:sp>
      <p:sp>
        <p:nvSpPr>
          <p:cNvPr id="14" name="">
            <a:extLst xmlns:a="http://schemas.openxmlformats.org/drawingml/2006/main">
              <a:ext uri="{FF2B5EF4-FFF2-40B4-BE49-F238E27FC236}">
                <a16:creationId xmlns:a16="http://schemas.microsoft.com/office/drawing/2014/main" id="{94557BAB-327C-4320-92FB-2957C14419F2}"/>
              </a:ext>
            </a:extLst>
          </p:cNvPr>
          <p:cNvSpPr>
            <a:spLocks xmlns:a="http://schemas.openxmlformats.org/drawingml/2006/main" noGrp="1"/>
          </p:cNvSpPr>
          <p:nvPr/>
        </p:nvSpPr>
        <p:spPr>
          <a:xfrm xmlns:a="http://schemas.openxmlformats.org/drawingml/2006/main">
            <a:off x="1143000" y="3333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tiktok.com</a:t>
            </a:r>
          </a:p>
        </p:txBody>
      </p:sp>
      <p:sp>
        <p:nvSpPr>
          <p:cNvPr id="15" name="">
            <a:extLst xmlns:a="http://schemas.openxmlformats.org/drawingml/2006/main">
              <a:ext uri="{FF2B5EF4-FFF2-40B4-BE49-F238E27FC236}">
                <a16:creationId xmlns:a16="http://schemas.microsoft.com/office/drawing/2014/main" id="{D80A3294-7393-4A24-8D7E-EB3E78875CD6}"/>
              </a:ext>
            </a:extLst>
          </p:cNvPr>
          <p:cNvSpPr>
            <a:spLocks xmlns:a="http://schemas.openxmlformats.org/drawingml/2006/main" noGrp="1"/>
          </p:cNvSpPr>
          <p:nvPr/>
        </p:nvSpPr>
        <p:spPr>
          <a:xfrm xmlns:a="http://schemas.openxmlformats.org/drawingml/2006/main">
            <a:off x="1143000" y="3619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143 mentions  •  2.9M reach</a:t>
            </a:r>
          </a:p>
        </p:txBody>
      </p:sp>
      <p:sp>
        <p:nvSpPr>
          <p:cNvPr id="16" name="">
            <a:extLst xmlns:a="http://schemas.openxmlformats.org/drawingml/2006/main">
              <a:ext uri="{FF2B5EF4-FFF2-40B4-BE49-F238E27FC236}">
                <a16:creationId xmlns:a16="http://schemas.microsoft.com/office/drawing/2014/main" id="{9E6932DE-C953-4C24-87DD-92AE3D4DEE87}"/>
              </a:ext>
            </a:extLst>
          </p:cNvPr>
          <p:cNvSpPr>
            <a:spLocks xmlns:a="http://schemas.openxmlformats.org/drawingml/2006/main" noGrp="1"/>
          </p:cNvSpPr>
          <p:nvPr/>
        </p:nvSpPr>
        <p:spPr>
          <a:xfrm xmlns:a="http://schemas.openxmlformats.org/drawingml/2006/main">
            <a:off x="666750" y="39528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83A18"/>
                </a:solidFill>
              </a:defRPr>
            </a:pPr>
            <a:r>
              <a:rPr sz="1350" b="1">
                <a:solidFill>
                  <a:srgbClr val="B83A18"/>
                </a:solidFill>
              </a:rPr>
              <a:t>4</a:t>
            </a:r>
          </a:p>
        </p:txBody>
      </p:sp>
      <p:sp>
        <p:nvSpPr>
          <p:cNvPr id="17" name="">
            <a:extLst xmlns:a="http://schemas.openxmlformats.org/drawingml/2006/main">
              <a:ext uri="{FF2B5EF4-FFF2-40B4-BE49-F238E27FC236}">
                <a16:creationId xmlns:a16="http://schemas.microsoft.com/office/drawing/2014/main" id="{F9B53BAC-ABB9-4185-A502-09ABA17B0FF4}"/>
              </a:ext>
            </a:extLst>
          </p:cNvPr>
          <p:cNvSpPr>
            <a:spLocks xmlns:a="http://schemas.openxmlformats.org/drawingml/2006/main" noGrp="1"/>
          </p:cNvSpPr>
          <p:nvPr/>
        </p:nvSpPr>
        <p:spPr>
          <a:xfrm xmlns:a="http://schemas.openxmlformats.org/drawingml/2006/main">
            <a:off x="1143000" y="39528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t.me</a:t>
            </a:r>
          </a:p>
        </p:txBody>
      </p:sp>
      <p:sp>
        <p:nvSpPr>
          <p:cNvPr id="18" name="">
            <a:extLst xmlns:a="http://schemas.openxmlformats.org/drawingml/2006/main">
              <a:ext uri="{FF2B5EF4-FFF2-40B4-BE49-F238E27FC236}">
                <a16:creationId xmlns:a16="http://schemas.microsoft.com/office/drawing/2014/main" id="{95179F5D-700B-48D7-84C0-667F2D64FA52}"/>
              </a:ext>
            </a:extLst>
          </p:cNvPr>
          <p:cNvSpPr>
            <a:spLocks xmlns:a="http://schemas.openxmlformats.org/drawingml/2006/main" noGrp="1"/>
          </p:cNvSpPr>
          <p:nvPr/>
        </p:nvSpPr>
        <p:spPr>
          <a:xfrm xmlns:a="http://schemas.openxmlformats.org/drawingml/2006/main">
            <a:off x="1143000" y="423862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35 mentions  •  525K reach</a:t>
            </a:r>
          </a:p>
        </p:txBody>
      </p:sp>
      <p:sp>
        <p:nvSpPr>
          <p:cNvPr id="19" name="">
            <a:extLst xmlns:a="http://schemas.openxmlformats.org/drawingml/2006/main">
              <a:ext uri="{FF2B5EF4-FFF2-40B4-BE49-F238E27FC236}">
                <a16:creationId xmlns:a16="http://schemas.microsoft.com/office/drawing/2014/main" id="{969FEC21-8403-4326-886E-4E5B37C0E635}"/>
              </a:ext>
            </a:extLst>
          </p:cNvPr>
          <p:cNvSpPr>
            <a:spLocks xmlns:a="http://schemas.openxmlformats.org/drawingml/2006/main" noGrp="1"/>
          </p:cNvSpPr>
          <p:nvPr/>
        </p:nvSpPr>
        <p:spPr>
          <a:xfrm xmlns:a="http://schemas.openxmlformats.org/drawingml/2006/main">
            <a:off x="666750" y="45720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83A18"/>
                </a:solidFill>
              </a:defRPr>
            </a:pPr>
            <a:r>
              <a:rPr sz="1350" b="1">
                <a:solidFill>
                  <a:srgbClr val="B83A18"/>
                </a:solidFill>
              </a:rPr>
              <a:t>5</a:t>
            </a:r>
          </a:p>
        </p:txBody>
      </p:sp>
      <p:sp>
        <p:nvSpPr>
          <p:cNvPr id="20" name="">
            <a:extLst xmlns:a="http://schemas.openxmlformats.org/drawingml/2006/main">
              <a:ext uri="{FF2B5EF4-FFF2-40B4-BE49-F238E27FC236}">
                <a16:creationId xmlns:a16="http://schemas.microsoft.com/office/drawing/2014/main" id="{9D65A0FF-72CE-4471-84FF-0CD8EB0C3A54}"/>
              </a:ext>
            </a:extLst>
          </p:cNvPr>
          <p:cNvSpPr>
            <a:spLocks xmlns:a="http://schemas.openxmlformats.org/drawingml/2006/main" noGrp="1"/>
          </p:cNvSpPr>
          <p:nvPr/>
        </p:nvSpPr>
        <p:spPr>
          <a:xfrm xmlns:a="http://schemas.openxmlformats.org/drawingml/2006/main">
            <a:off x="1143000" y="45720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umno-online.my</a:t>
            </a:r>
          </a:p>
        </p:txBody>
      </p:sp>
      <p:sp>
        <p:nvSpPr>
          <p:cNvPr id="21" name="">
            <a:extLst xmlns:a="http://schemas.openxmlformats.org/drawingml/2006/main">
              <a:ext uri="{FF2B5EF4-FFF2-40B4-BE49-F238E27FC236}">
                <a16:creationId xmlns:a16="http://schemas.microsoft.com/office/drawing/2014/main" id="{BFC7F3DC-A16A-4B97-BEBE-14E45467012A}"/>
              </a:ext>
            </a:extLst>
          </p:cNvPr>
          <p:cNvSpPr>
            <a:spLocks xmlns:a="http://schemas.openxmlformats.org/drawingml/2006/main" noGrp="1"/>
          </p:cNvSpPr>
          <p:nvPr/>
        </p:nvSpPr>
        <p:spPr>
          <a:xfrm xmlns:a="http://schemas.openxmlformats.org/drawingml/2006/main">
            <a:off x="1143000" y="48577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21 mentions  •  50.4K reach</a:t>
            </a:r>
          </a:p>
        </p:txBody>
      </p:sp>
      <p:sp>
        <p:nvSpPr>
          <p:cNvPr id="22" name="">
            <a:extLst xmlns:a="http://schemas.openxmlformats.org/drawingml/2006/main">
              <a:ext uri="{FF2B5EF4-FFF2-40B4-BE49-F238E27FC236}">
                <a16:creationId xmlns:a16="http://schemas.microsoft.com/office/drawing/2014/main" id="{A8AF5756-6278-48F9-8F72-D5015259E0D3}"/>
              </a:ext>
            </a:extLst>
          </p:cNvPr>
          <p:cNvSpPr>
            <a:spLocks xmlns:a="http://schemas.openxmlformats.org/drawingml/2006/main" noGrp="1"/>
          </p:cNvSpPr>
          <p:nvPr/>
        </p:nvSpPr>
        <p:spPr>
          <a:xfrm xmlns:a="http://schemas.openxmlformats.org/drawingml/2006/main">
            <a:off x="666750" y="51911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83A18"/>
                </a:solidFill>
              </a:defRPr>
            </a:pPr>
            <a:r>
              <a:rPr sz="1350" b="1">
                <a:solidFill>
                  <a:srgbClr val="B83A18"/>
                </a:solidFill>
              </a:rPr>
              <a:t>6</a:t>
            </a:r>
          </a:p>
        </p:txBody>
      </p:sp>
      <p:sp>
        <p:nvSpPr>
          <p:cNvPr id="23" name="">
            <a:extLst xmlns:a="http://schemas.openxmlformats.org/drawingml/2006/main">
              <a:ext uri="{FF2B5EF4-FFF2-40B4-BE49-F238E27FC236}">
                <a16:creationId xmlns:a16="http://schemas.microsoft.com/office/drawing/2014/main" id="{285D3500-47A6-42FD-B0F8-3F32695D66FA}"/>
              </a:ext>
            </a:extLst>
          </p:cNvPr>
          <p:cNvSpPr>
            <a:spLocks xmlns:a="http://schemas.openxmlformats.org/drawingml/2006/main" noGrp="1"/>
          </p:cNvSpPr>
          <p:nvPr/>
        </p:nvSpPr>
        <p:spPr>
          <a:xfrm xmlns:a="http://schemas.openxmlformats.org/drawingml/2006/main">
            <a:off x="1143000" y="5191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bsky.app</a:t>
            </a:r>
          </a:p>
        </p:txBody>
      </p:sp>
      <p:sp>
        <p:nvSpPr>
          <p:cNvPr id="24" name="">
            <a:extLst xmlns:a="http://schemas.openxmlformats.org/drawingml/2006/main">
              <a:ext uri="{FF2B5EF4-FFF2-40B4-BE49-F238E27FC236}">
                <a16:creationId xmlns:a16="http://schemas.microsoft.com/office/drawing/2014/main" id="{EDE2240A-EBCA-40EC-987F-555345D3B409}"/>
              </a:ext>
            </a:extLst>
          </p:cNvPr>
          <p:cNvSpPr>
            <a:spLocks xmlns:a="http://schemas.openxmlformats.org/drawingml/2006/main" noGrp="1"/>
          </p:cNvSpPr>
          <p:nvPr/>
        </p:nvSpPr>
        <p:spPr>
          <a:xfrm xmlns:a="http://schemas.openxmlformats.org/drawingml/2006/main">
            <a:off x="1143000" y="547687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20 mentions  •  220 reach</a:t>
            </a:r>
          </a:p>
        </p:txBody>
      </p:sp>
      <p:sp>
        <p:nvSpPr>
          <p:cNvPr id="25" name="">
            <a:extLst xmlns:a="http://schemas.openxmlformats.org/drawingml/2006/main">
              <a:ext uri="{FF2B5EF4-FFF2-40B4-BE49-F238E27FC236}">
                <a16:creationId xmlns:a16="http://schemas.microsoft.com/office/drawing/2014/main" id="{23FDC94D-889B-4B4B-A4C0-3A7289576A39}"/>
              </a:ext>
            </a:extLst>
          </p:cNvPr>
          <p:cNvSpPr>
            <a:spLocks xmlns:a="http://schemas.openxmlformats.org/drawingml/2006/main" noGrp="1"/>
          </p:cNvSpPr>
          <p:nvPr/>
        </p:nvSpPr>
        <p:spPr>
          <a:xfrm xmlns:a="http://schemas.openxmlformats.org/drawingml/2006/main">
            <a:off x="6477000" y="20955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CA81A"/>
                </a:solidFill>
              </a:defRPr>
            </a:pPr>
            <a:r>
              <a:rPr sz="1350" b="1">
                <a:solidFill>
                  <a:srgbClr val="ECA81A"/>
                </a:solidFill>
              </a:rPr>
              <a:t>1</a:t>
            </a:r>
          </a:p>
        </p:txBody>
      </p:sp>
      <p:sp>
        <p:nvSpPr>
          <p:cNvPr id="26" name="">
            <a:extLst xmlns:a="http://schemas.openxmlformats.org/drawingml/2006/main">
              <a:ext uri="{FF2B5EF4-FFF2-40B4-BE49-F238E27FC236}">
                <a16:creationId xmlns:a16="http://schemas.microsoft.com/office/drawing/2014/main" id="{1A9EC8C9-59AF-4312-A3E0-59BB86193432}"/>
              </a:ext>
            </a:extLst>
          </p:cNvPr>
          <p:cNvSpPr>
            <a:spLocks xmlns:a="http://schemas.openxmlformats.org/drawingml/2006/main" noGrp="1"/>
          </p:cNvSpPr>
          <p:nvPr/>
        </p:nvSpPr>
        <p:spPr>
          <a:xfrm xmlns:a="http://schemas.openxmlformats.org/drawingml/2006/main">
            <a:off x="6953250" y="209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grok</a:t>
            </a:r>
          </a:p>
        </p:txBody>
      </p:sp>
      <p:sp>
        <p:nvSpPr>
          <p:cNvPr id="27" name="">
            <a:extLst xmlns:a="http://schemas.openxmlformats.org/drawingml/2006/main">
              <a:ext uri="{FF2B5EF4-FFF2-40B4-BE49-F238E27FC236}">
                <a16:creationId xmlns:a16="http://schemas.microsoft.com/office/drawing/2014/main" id="{39CA5A92-FC30-4984-BCD7-8CD750BC4DF7}"/>
              </a:ext>
            </a:extLst>
          </p:cNvPr>
          <p:cNvSpPr>
            <a:spLocks xmlns:a="http://schemas.openxmlformats.org/drawingml/2006/main" noGrp="1"/>
          </p:cNvSpPr>
          <p:nvPr/>
        </p:nvSpPr>
        <p:spPr>
          <a:xfrm xmlns:a="http://schemas.openxmlformats.org/drawingml/2006/main">
            <a:off x="6953250" y="23812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9M followers  •  0 reach</a:t>
            </a:r>
          </a:p>
        </p:txBody>
      </p:sp>
      <p:sp>
        <p:nvSpPr>
          <p:cNvPr id="28" name="">
            <a:extLst xmlns:a="http://schemas.openxmlformats.org/drawingml/2006/main">
              <a:ext uri="{FF2B5EF4-FFF2-40B4-BE49-F238E27FC236}">
                <a16:creationId xmlns:a16="http://schemas.microsoft.com/office/drawing/2014/main" id="{B2240B13-0F76-455B-8D08-DB8887FF6C59}"/>
              </a:ext>
            </a:extLst>
          </p:cNvPr>
          <p:cNvSpPr>
            <a:spLocks xmlns:a="http://schemas.openxmlformats.org/drawingml/2006/main" noGrp="1"/>
          </p:cNvSpPr>
          <p:nvPr/>
        </p:nvSpPr>
        <p:spPr>
          <a:xfrm xmlns:a="http://schemas.openxmlformats.org/drawingml/2006/main">
            <a:off x="6477000" y="27146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CA81A"/>
                </a:solidFill>
              </a:defRPr>
            </a:pPr>
            <a:r>
              <a:rPr sz="1350" b="1">
                <a:solidFill>
                  <a:srgbClr val="ECA81A"/>
                </a:solidFill>
              </a:rPr>
              <a:t>2</a:t>
            </a:r>
          </a:p>
        </p:txBody>
      </p:sp>
      <p:sp>
        <p:nvSpPr>
          <p:cNvPr id="29" name="">
            <a:extLst xmlns:a="http://schemas.openxmlformats.org/drawingml/2006/main">
              <a:ext uri="{FF2B5EF4-FFF2-40B4-BE49-F238E27FC236}">
                <a16:creationId xmlns:a16="http://schemas.microsoft.com/office/drawing/2014/main" id="{9317DC18-3D74-43E1-96AF-6CDE642F041D}"/>
              </a:ext>
            </a:extLst>
          </p:cNvPr>
          <p:cNvSpPr>
            <a:spLocks xmlns:a="http://schemas.openxmlformats.org/drawingml/2006/main" noGrp="1"/>
          </p:cNvSpPr>
          <p:nvPr/>
        </p:nvSpPr>
        <p:spPr>
          <a:xfrm xmlns:a="http://schemas.openxmlformats.org/drawingml/2006/main">
            <a:off x="6953250" y="2714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buletintv3</a:t>
            </a:r>
          </a:p>
        </p:txBody>
      </p:sp>
      <p:sp>
        <p:nvSpPr>
          <p:cNvPr id="30" name="">
            <a:extLst xmlns:a="http://schemas.openxmlformats.org/drawingml/2006/main">
              <a:ext uri="{FF2B5EF4-FFF2-40B4-BE49-F238E27FC236}">
                <a16:creationId xmlns:a16="http://schemas.microsoft.com/office/drawing/2014/main" id="{A18A4B12-2E42-40F8-A75F-AE6491F7E158}"/>
              </a:ext>
            </a:extLst>
          </p:cNvPr>
          <p:cNvSpPr>
            <a:spLocks xmlns:a="http://schemas.openxmlformats.org/drawingml/2006/main" noGrp="1"/>
          </p:cNvSpPr>
          <p:nvPr/>
        </p:nvSpPr>
        <p:spPr>
          <a:xfrm xmlns:a="http://schemas.openxmlformats.org/drawingml/2006/main">
            <a:off x="6953250" y="300037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3.9M followers  •  25.6K reach</a:t>
            </a:r>
          </a:p>
        </p:txBody>
      </p:sp>
      <p:sp>
        <p:nvSpPr>
          <p:cNvPr id="31" name="">
            <a:extLst xmlns:a="http://schemas.openxmlformats.org/drawingml/2006/main">
              <a:ext uri="{FF2B5EF4-FFF2-40B4-BE49-F238E27FC236}">
                <a16:creationId xmlns:a16="http://schemas.microsoft.com/office/drawing/2014/main" id="{2E21E212-05A4-4D59-BFB1-DA992F3C2382}"/>
              </a:ext>
            </a:extLst>
          </p:cNvPr>
          <p:cNvSpPr>
            <a:spLocks xmlns:a="http://schemas.openxmlformats.org/drawingml/2006/main" noGrp="1"/>
          </p:cNvSpPr>
          <p:nvPr/>
        </p:nvSpPr>
        <p:spPr>
          <a:xfrm xmlns:a="http://schemas.openxmlformats.org/drawingml/2006/main">
            <a:off x="6477000" y="33337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CA81A"/>
                </a:solidFill>
              </a:defRPr>
            </a:pPr>
            <a:r>
              <a:rPr sz="1350" b="1">
                <a:solidFill>
                  <a:srgbClr val="ECA81A"/>
                </a:solidFill>
              </a:rPr>
              <a:t>3</a:t>
            </a:r>
          </a:p>
        </p:txBody>
      </p:sp>
      <p:sp>
        <p:nvSpPr>
          <p:cNvPr id="32" name="">
            <a:extLst xmlns:a="http://schemas.openxmlformats.org/drawingml/2006/main">
              <a:ext uri="{FF2B5EF4-FFF2-40B4-BE49-F238E27FC236}">
                <a16:creationId xmlns:a16="http://schemas.microsoft.com/office/drawing/2014/main" id="{BD6755C7-789A-4D58-899A-FB96B927CDB4}"/>
              </a:ext>
            </a:extLst>
          </p:cNvPr>
          <p:cNvSpPr>
            <a:spLocks xmlns:a="http://schemas.openxmlformats.org/drawingml/2006/main" noGrp="1"/>
          </p:cNvSpPr>
          <p:nvPr/>
        </p:nvSpPr>
        <p:spPr>
          <a:xfrm xmlns:a="http://schemas.openxmlformats.org/drawingml/2006/main">
            <a:off x="6953250" y="3333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malaysiagazette</a:t>
            </a:r>
          </a:p>
        </p:txBody>
      </p:sp>
      <p:sp>
        <p:nvSpPr>
          <p:cNvPr id="33" name="">
            <a:extLst xmlns:a="http://schemas.openxmlformats.org/drawingml/2006/main">
              <a:ext uri="{FF2B5EF4-FFF2-40B4-BE49-F238E27FC236}">
                <a16:creationId xmlns:a16="http://schemas.microsoft.com/office/drawing/2014/main" id="{AE1614D4-FE85-4E82-98C6-B83102797E2E}"/>
              </a:ext>
            </a:extLst>
          </p:cNvPr>
          <p:cNvSpPr>
            <a:spLocks xmlns:a="http://schemas.openxmlformats.org/drawingml/2006/main" noGrp="1"/>
          </p:cNvSpPr>
          <p:nvPr/>
        </p:nvSpPr>
        <p:spPr>
          <a:xfrm xmlns:a="http://schemas.openxmlformats.org/drawingml/2006/main">
            <a:off x="6953250" y="3619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2.7M followers  •  41.8K reach</a:t>
            </a:r>
          </a:p>
        </p:txBody>
      </p:sp>
      <p:sp>
        <p:nvSpPr>
          <p:cNvPr id="34" name="">
            <a:extLst xmlns:a="http://schemas.openxmlformats.org/drawingml/2006/main">
              <a:ext uri="{FF2B5EF4-FFF2-40B4-BE49-F238E27FC236}">
                <a16:creationId xmlns:a16="http://schemas.microsoft.com/office/drawing/2014/main" id="{2C69C653-E627-4AB1-937D-2DD9A5C45811}"/>
              </a:ext>
            </a:extLst>
          </p:cNvPr>
          <p:cNvSpPr>
            <a:spLocks xmlns:a="http://schemas.openxmlformats.org/drawingml/2006/main" noGrp="1"/>
          </p:cNvSpPr>
          <p:nvPr/>
        </p:nvSpPr>
        <p:spPr>
          <a:xfrm xmlns:a="http://schemas.openxmlformats.org/drawingml/2006/main">
            <a:off x="6477000" y="395287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CA81A"/>
                </a:solidFill>
              </a:defRPr>
            </a:pPr>
            <a:r>
              <a:rPr sz="1350" b="1">
                <a:solidFill>
                  <a:srgbClr val="ECA81A"/>
                </a:solidFill>
              </a:rPr>
              <a:t>4</a:t>
            </a:r>
          </a:p>
        </p:txBody>
      </p:sp>
      <p:sp>
        <p:nvSpPr>
          <p:cNvPr id="35" name="">
            <a:extLst xmlns:a="http://schemas.openxmlformats.org/drawingml/2006/main">
              <a:ext uri="{FF2B5EF4-FFF2-40B4-BE49-F238E27FC236}">
                <a16:creationId xmlns:a16="http://schemas.microsoft.com/office/drawing/2014/main" id="{B2C3FD82-1B64-41C9-9B67-575D13FBC8DE}"/>
              </a:ext>
            </a:extLst>
          </p:cNvPr>
          <p:cNvSpPr>
            <a:spLocks xmlns:a="http://schemas.openxmlformats.org/drawingml/2006/main" noGrp="1"/>
          </p:cNvSpPr>
          <p:nvPr/>
        </p:nvSpPr>
        <p:spPr>
          <a:xfrm xmlns:a="http://schemas.openxmlformats.org/drawingml/2006/main">
            <a:off x="6953250" y="39528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KiniTV</a:t>
            </a:r>
          </a:p>
        </p:txBody>
      </p:sp>
      <p:sp>
        <p:nvSpPr>
          <p:cNvPr id="36" name="">
            <a:extLst xmlns:a="http://schemas.openxmlformats.org/drawingml/2006/main">
              <a:ext uri="{FF2B5EF4-FFF2-40B4-BE49-F238E27FC236}">
                <a16:creationId xmlns:a16="http://schemas.microsoft.com/office/drawing/2014/main" id="{1031440C-9B55-4266-8BFE-06A49512CCDB}"/>
              </a:ext>
            </a:extLst>
          </p:cNvPr>
          <p:cNvSpPr>
            <a:spLocks xmlns:a="http://schemas.openxmlformats.org/drawingml/2006/main" noGrp="1"/>
          </p:cNvSpPr>
          <p:nvPr/>
        </p:nvSpPr>
        <p:spPr>
          <a:xfrm xmlns:a="http://schemas.openxmlformats.org/drawingml/2006/main">
            <a:off x="6953250" y="423862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2.5M followers  •  14.1K reach</a:t>
            </a:r>
          </a:p>
        </p:txBody>
      </p:sp>
      <p:sp>
        <p:nvSpPr>
          <p:cNvPr id="37" name="">
            <a:extLst xmlns:a="http://schemas.openxmlformats.org/drawingml/2006/main">
              <a:ext uri="{FF2B5EF4-FFF2-40B4-BE49-F238E27FC236}">
                <a16:creationId xmlns:a16="http://schemas.microsoft.com/office/drawing/2014/main" id="{D13F2499-0A39-41EF-93B0-F5BC6467CA60}"/>
              </a:ext>
            </a:extLst>
          </p:cNvPr>
          <p:cNvSpPr>
            <a:spLocks xmlns:a="http://schemas.openxmlformats.org/drawingml/2006/main" noGrp="1"/>
          </p:cNvSpPr>
          <p:nvPr/>
        </p:nvSpPr>
        <p:spPr>
          <a:xfrm xmlns:a="http://schemas.openxmlformats.org/drawingml/2006/main">
            <a:off x="6477000" y="45720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CA81A"/>
                </a:solidFill>
              </a:defRPr>
            </a:pPr>
            <a:r>
              <a:rPr sz="1350" b="1">
                <a:solidFill>
                  <a:srgbClr val="ECA81A"/>
                </a:solidFill>
              </a:rPr>
              <a:t>5</a:t>
            </a:r>
          </a:p>
        </p:txBody>
      </p:sp>
      <p:sp>
        <p:nvSpPr>
          <p:cNvPr id="38" name="">
            <a:extLst xmlns:a="http://schemas.openxmlformats.org/drawingml/2006/main">
              <a:ext uri="{FF2B5EF4-FFF2-40B4-BE49-F238E27FC236}">
                <a16:creationId xmlns:a16="http://schemas.microsoft.com/office/drawing/2014/main" id="{AB46C46B-8166-420A-AB76-0BCBB1DBCF3F}"/>
              </a:ext>
            </a:extLst>
          </p:cNvPr>
          <p:cNvSpPr>
            <a:spLocks xmlns:a="http://schemas.openxmlformats.org/drawingml/2006/main" noGrp="1"/>
          </p:cNvSpPr>
          <p:nvPr/>
        </p:nvSpPr>
        <p:spPr>
          <a:xfrm xmlns:a="http://schemas.openxmlformats.org/drawingml/2006/main">
            <a:off x="6953250" y="45720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Buletin TV3</a:t>
            </a:r>
          </a:p>
        </p:txBody>
      </p:sp>
      <p:sp>
        <p:nvSpPr>
          <p:cNvPr id="39" name="">
            <a:extLst xmlns:a="http://schemas.openxmlformats.org/drawingml/2006/main">
              <a:ext uri="{FF2B5EF4-FFF2-40B4-BE49-F238E27FC236}">
                <a16:creationId xmlns:a16="http://schemas.microsoft.com/office/drawing/2014/main" id="{B3DBEA2F-B664-49A4-A6E7-082B64B16B27}"/>
              </a:ext>
            </a:extLst>
          </p:cNvPr>
          <p:cNvSpPr>
            <a:spLocks xmlns:a="http://schemas.openxmlformats.org/drawingml/2006/main" noGrp="1"/>
          </p:cNvSpPr>
          <p:nvPr/>
        </p:nvSpPr>
        <p:spPr>
          <a:xfrm xmlns:a="http://schemas.openxmlformats.org/drawingml/2006/main">
            <a:off x="6953250" y="48577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2.3M followers  •  22.9K reach</a:t>
            </a:r>
          </a:p>
        </p:txBody>
      </p:sp>
      <p:sp>
        <p:nvSpPr>
          <p:cNvPr id="40" name="">
            <a:extLst xmlns:a="http://schemas.openxmlformats.org/drawingml/2006/main">
              <a:ext uri="{FF2B5EF4-FFF2-40B4-BE49-F238E27FC236}">
                <a16:creationId xmlns:a16="http://schemas.microsoft.com/office/drawing/2014/main" id="{9C4A90CA-8639-441D-9F2E-4348D449B1C7}"/>
              </a:ext>
            </a:extLst>
          </p:cNvPr>
          <p:cNvSpPr>
            <a:spLocks xmlns:a="http://schemas.openxmlformats.org/drawingml/2006/main" noGrp="1"/>
          </p:cNvSpPr>
          <p:nvPr/>
        </p:nvSpPr>
        <p:spPr>
          <a:xfrm xmlns:a="http://schemas.openxmlformats.org/drawingml/2006/main">
            <a:off x="6477000" y="51911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CA81A"/>
                </a:solidFill>
              </a:defRPr>
            </a:pPr>
            <a:r>
              <a:rPr sz="1350" b="1">
                <a:solidFill>
                  <a:srgbClr val="ECA81A"/>
                </a:solidFill>
              </a:rPr>
              <a:t>6</a:t>
            </a:r>
          </a:p>
        </p:txBody>
      </p:sp>
      <p:sp>
        <p:nvSpPr>
          <p:cNvPr id="41" name="">
            <a:extLst xmlns:a="http://schemas.openxmlformats.org/drawingml/2006/main">
              <a:ext uri="{FF2B5EF4-FFF2-40B4-BE49-F238E27FC236}">
                <a16:creationId xmlns:a16="http://schemas.microsoft.com/office/drawing/2014/main" id="{0EE9FCBC-51A6-4CCF-B6DA-4FC0D28FA88D}"/>
              </a:ext>
            </a:extLst>
          </p:cNvPr>
          <p:cNvSpPr>
            <a:spLocks xmlns:a="http://schemas.openxmlformats.org/drawingml/2006/main" noGrp="1"/>
          </p:cNvSpPr>
          <p:nvPr/>
        </p:nvSpPr>
        <p:spPr>
          <a:xfrm xmlns:a="http://schemas.openxmlformats.org/drawingml/2006/main">
            <a:off x="6953250" y="5191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4150E"/>
                </a:solidFill>
              </a:defRPr>
            </a:pPr>
            <a:r>
              <a:rPr sz="1350" b="1">
                <a:solidFill>
                  <a:srgbClr val="24150E"/>
                </a:solidFill>
              </a:rPr>
              <a:t>Astro AWANI</a:t>
            </a:r>
          </a:p>
        </p:txBody>
      </p:sp>
      <p:sp>
        <p:nvSpPr>
          <p:cNvPr id="42" name="">
            <a:extLst xmlns:a="http://schemas.openxmlformats.org/drawingml/2006/main">
              <a:ext uri="{FF2B5EF4-FFF2-40B4-BE49-F238E27FC236}">
                <a16:creationId xmlns:a16="http://schemas.microsoft.com/office/drawing/2014/main" id="{03D63354-9942-4812-A418-A6A0712A5BF4}"/>
              </a:ext>
            </a:extLst>
          </p:cNvPr>
          <p:cNvSpPr>
            <a:spLocks xmlns:a="http://schemas.openxmlformats.org/drawingml/2006/main" noGrp="1"/>
          </p:cNvSpPr>
          <p:nvPr/>
        </p:nvSpPr>
        <p:spPr>
          <a:xfrm xmlns:a="http://schemas.openxmlformats.org/drawingml/2006/main">
            <a:off x="6953250" y="547687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7C6256"/>
                </a:solidFill>
              </a:defRPr>
            </a:pPr>
            <a:r>
              <a:rPr sz="1050" b="0">
                <a:solidFill>
                  <a:srgbClr val="7C6256"/>
                </a:solidFill>
              </a:rPr>
              <a:t>2.1M followers  •  27.8K reach</a:t>
            </a:r>
          </a:p>
        </p:txBody>
      </p:sp>
      <p:sp>
        <p:nvSpPr>
          <p:cNvPr id="43" name="">
            <a:extLst xmlns:a="http://schemas.openxmlformats.org/drawingml/2006/main">
              <a:ext uri="{FF2B5EF4-FFF2-40B4-BE49-F238E27FC236}">
                <a16:creationId xmlns:a16="http://schemas.microsoft.com/office/drawing/2014/main" id="{ACCAD525-46AB-4212-95A4-BD38DDB9F1F4}"/>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44" name="">
            <a:extLst xmlns:a="http://schemas.openxmlformats.org/drawingml/2006/main">
              <a:ext uri="{FF2B5EF4-FFF2-40B4-BE49-F238E27FC236}">
                <a16:creationId xmlns:a16="http://schemas.microsoft.com/office/drawing/2014/main" id="{BB820E12-7CCB-4C0A-9371-88DD47DFC9EB}"/>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45" name="">
            <a:extLst xmlns:a="http://schemas.openxmlformats.org/drawingml/2006/main">
              <a:ext uri="{FF2B5EF4-FFF2-40B4-BE49-F238E27FC236}">
                <a16:creationId xmlns:a16="http://schemas.microsoft.com/office/drawing/2014/main" id="{09281650-8F81-447B-AE89-77A753624AFE}"/>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483284588"/>
      </p:ext>
    </p:extLst>
  </p:cSld>
</p:sld>
</file>

<file path=ppt/slides/slide8.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DA62D4D-5760-4982-BB89-68F23D647415}"/>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EBE1B7-C76B-44BC-ABD3-BC5BFD381975}"/>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FEATURED COVERAGE</a:t>
            </a:r>
          </a:p>
        </p:txBody>
      </p:sp>
      <p:sp>
        <p:nvSpPr>
          <p:cNvPr id="3" name="slide-8-title">
            <a:extLst xmlns:a="http://schemas.openxmlformats.org/drawingml/2006/main">
              <a:ext uri="{FF2B5EF4-FFF2-40B4-BE49-F238E27FC236}">
                <a16:creationId xmlns:a16="http://schemas.microsoft.com/office/drawing/2014/main" id="{33381C8F-EE2C-4C5D-AC09-38BD2F640549}"/>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Representative mentions capture how coverage was framed</a:t>
            </a:r>
          </a:p>
        </p:txBody>
      </p:sp>
      <p:sp>
        <p:nvSpPr>
          <p:cNvPr id="4" name="">
            <a:extLst xmlns:a="http://schemas.openxmlformats.org/drawingml/2006/main">
              <a:ext uri="{FF2B5EF4-FFF2-40B4-BE49-F238E27FC236}">
                <a16:creationId xmlns:a16="http://schemas.microsoft.com/office/drawing/2014/main" id="{4E5D6275-313D-48DC-860F-FC1A3EE15804}"/>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08</a:t>
            </a:r>
          </a:p>
        </p:txBody>
      </p:sp>
      <p:sp>
        <p:nvSpPr>
          <p:cNvPr id="5" name="">
            <a:extLst xmlns:a="http://schemas.openxmlformats.org/drawingml/2006/main">
              <a:ext uri="{FF2B5EF4-FFF2-40B4-BE49-F238E27FC236}">
                <a16:creationId xmlns:a16="http://schemas.microsoft.com/office/drawing/2014/main" id="{FA341C77-D5F0-4B01-A620-FE2CEFE7A603}"/>
              </a:ext>
            </a:extLst>
          </p:cNvPr>
          <p:cNvSpPr>
            <a:spLocks xmlns:a="http://schemas.openxmlformats.org/drawingml/2006/main" noGrp="1"/>
          </p:cNvSpPr>
          <p:nvPr/>
        </p:nvSpPr>
        <p:spPr>
          <a:xfrm xmlns:a="http://schemas.openxmlformats.org/drawingml/2006/main">
            <a:off x="609600" y="1571625"/>
            <a:ext cx="3429000" cy="4095750"/>
          </a:xfrm>
          <a:prstGeom xmlns:a="http://schemas.openxmlformats.org/drawingml/2006/main" prst="roundRect">
            <a:avLst>
              <a:gd name="adj" fmla="val 3333"/>
            </a:avLst>
          </a:prstGeom>
          <a:solidFill xmlns:a="http://schemas.openxmlformats.org/drawingml/2006/main">
            <a:srgbClr val="FFF1E6"/>
          </a:solidFill>
          <a:ln xmlns:a="http://schemas.openxmlformats.org/drawingml/2006/main" w="9525">
            <a:solidFill>
              <a:srgbClr val="ECD6C7"/>
            </a:solidFill>
            <a:prstDash val="solid"/>
          </a:ln>
        </p:spPr>
      </p:sp>
      <p:sp>
        <p:nvSpPr>
          <p:cNvPr id="6" name="">
            <a:extLst xmlns:a="http://schemas.openxmlformats.org/drawingml/2006/main">
              <a:ext uri="{FF2B5EF4-FFF2-40B4-BE49-F238E27FC236}">
                <a16:creationId xmlns:a16="http://schemas.microsoft.com/office/drawing/2014/main" id="{5B04AD91-B1ED-47D6-BEF1-8ACFDD5A7E3A}"/>
              </a:ext>
            </a:extLst>
          </p:cNvPr>
          <p:cNvSpPr>
            <a:spLocks xmlns:a="http://schemas.openxmlformats.org/drawingml/2006/main" noGrp="1"/>
          </p:cNvSpPr>
          <p:nvPr/>
        </p:nvSpPr>
        <p:spPr>
          <a:xfrm xmlns:a="http://schemas.openxmlformats.org/drawingml/2006/main">
            <a:off x="838200" y="18288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84B38"/>
                </a:solidFill>
              </a:defRPr>
            </a:pPr>
            <a:r>
              <a:rPr sz="1200" b="1">
                <a:solidFill>
                  <a:srgbClr val="C84B38"/>
                </a:solidFill>
              </a:rPr>
              <a:t>tiktok  •  negative</a:t>
            </a:r>
          </a:p>
        </p:txBody>
      </p:sp>
      <p:sp>
        <p:nvSpPr>
          <p:cNvPr id="7" name="">
            <a:extLst xmlns:a="http://schemas.openxmlformats.org/drawingml/2006/main">
              <a:ext uri="{FF2B5EF4-FFF2-40B4-BE49-F238E27FC236}">
                <a16:creationId xmlns:a16="http://schemas.microsoft.com/office/drawing/2014/main" id="{6072B252-A838-4FBC-A61F-721AC3A6E500}"/>
              </a:ext>
            </a:extLst>
          </p:cNvPr>
          <p:cNvSpPr>
            <a:spLocks xmlns:a="http://schemas.openxmlformats.org/drawingml/2006/main" noGrp="1"/>
          </p:cNvSpPr>
          <p:nvPr/>
        </p:nvSpPr>
        <p:spPr>
          <a:xfrm xmlns:a="http://schemas.openxmlformats.org/drawingml/2006/main">
            <a:off x="838200" y="228600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150E"/>
                </a:solidFill>
              </a:defRPr>
            </a:pPr>
            <a:r>
              <a:rPr sz="1650" b="1">
                <a:solidFill>
                  <a:srgbClr val="24150E"/>
                </a:solidFill>
              </a:rPr>
              <a:t>faizalothman44</a:t>
            </a:r>
          </a:p>
        </p:txBody>
      </p:sp>
      <p:sp>
        <p:nvSpPr>
          <p:cNvPr id="8" name="">
            <a:extLst xmlns:a="http://schemas.openxmlformats.org/drawingml/2006/main">
              <a:ext uri="{FF2B5EF4-FFF2-40B4-BE49-F238E27FC236}">
                <a16:creationId xmlns:a16="http://schemas.microsoft.com/office/drawing/2014/main" id="{8D113BDE-CA2C-4C93-A27C-796DCB478B91}"/>
              </a:ext>
            </a:extLst>
          </p:cNvPr>
          <p:cNvSpPr>
            <a:spLocks xmlns:a="http://schemas.openxmlformats.org/drawingml/2006/main" noGrp="1"/>
          </p:cNvSpPr>
          <p:nvPr/>
        </p:nvSpPr>
        <p:spPr>
          <a:xfrm xmlns:a="http://schemas.openxmlformats.org/drawingml/2006/main">
            <a:off x="838200" y="3333750"/>
            <a:ext cx="29718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semua PM dari UMNO BN curi wang rakyat.. lepas pru16 ada xpm? hahaha takut xpm tu kekal jadi PM11 pulak.. meroyan pulak dia botak tua ni</a:t>
            </a:r>
          </a:p>
        </p:txBody>
      </p:sp>
      <p:sp>
        <p:nvSpPr>
          <p:cNvPr id="9" name="">
            <a:extLst xmlns:a="http://schemas.openxmlformats.org/drawingml/2006/main">
              <a:ext uri="{FF2B5EF4-FFF2-40B4-BE49-F238E27FC236}">
                <a16:creationId xmlns:a16="http://schemas.microsoft.com/office/drawing/2014/main" id="{33972C4E-0C7E-4F79-8A2B-8D1C242490F9}"/>
              </a:ext>
            </a:extLst>
          </p:cNvPr>
          <p:cNvSpPr>
            <a:spLocks xmlns:a="http://schemas.openxmlformats.org/drawingml/2006/main" noGrp="1"/>
          </p:cNvSpPr>
          <p:nvPr/>
        </p:nvSpPr>
        <p:spPr>
          <a:xfrm xmlns:a="http://schemas.openxmlformats.org/drawingml/2006/main">
            <a:off x="838200" y="5000625"/>
            <a:ext cx="2971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3A18"/>
                </a:solidFill>
              </a:defRPr>
            </a:pPr>
            <a:r>
              <a:rPr sz="1050" b="1">
                <a:solidFill>
                  <a:srgbClr val="B83A18"/>
                </a:solidFill>
              </a:rPr>
              <a:t>tiktok.com</a:t>
            </a:r>
          </a:p>
          <a:p xmlns:a="http://schemas.openxmlformats.org/drawingml/2006/main">
            <a:pPr algn="l">
              <a:defRPr sz="1050" b="1">
                <a:solidFill>
                  <a:srgbClr val="B83A18"/>
                </a:solidFill>
              </a:defRPr>
            </a:pPr>
            <a:r>
              <a:rPr sz="1050" b="1">
                <a:solidFill>
                  <a:srgbClr val="B83A18"/>
                </a:solidFill>
              </a:rPr>
              <a:t>2026-08-27</a:t>
            </a:r>
          </a:p>
        </p:txBody>
      </p:sp>
      <p:sp>
        <p:nvSpPr>
          <p:cNvPr id="10" name="">
            <a:extLst xmlns:a="http://schemas.openxmlformats.org/drawingml/2006/main">
              <a:ext uri="{FF2B5EF4-FFF2-40B4-BE49-F238E27FC236}">
                <a16:creationId xmlns:a16="http://schemas.microsoft.com/office/drawing/2014/main" id="{C3F69B16-F062-4AB5-A103-8BAC5879A239}"/>
              </a:ext>
            </a:extLst>
          </p:cNvPr>
          <p:cNvSpPr>
            <a:spLocks xmlns:a="http://schemas.openxmlformats.org/drawingml/2006/main" noGrp="1"/>
          </p:cNvSpPr>
          <p:nvPr/>
        </p:nvSpPr>
        <p:spPr>
          <a:xfrm xmlns:a="http://schemas.openxmlformats.org/drawingml/2006/main">
            <a:off x="4419600" y="1571625"/>
            <a:ext cx="3429000" cy="409575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ECD6C7"/>
            </a:solidFill>
            <a:prstDash val="solid"/>
          </a:ln>
        </p:spPr>
      </p:sp>
      <p:sp>
        <p:nvSpPr>
          <p:cNvPr id="11" name="">
            <a:extLst xmlns:a="http://schemas.openxmlformats.org/drawingml/2006/main">
              <a:ext uri="{FF2B5EF4-FFF2-40B4-BE49-F238E27FC236}">
                <a16:creationId xmlns:a16="http://schemas.microsoft.com/office/drawing/2014/main" id="{39D93BB1-0A40-45F7-9EA2-035EE6197A59}"/>
              </a:ext>
            </a:extLst>
          </p:cNvPr>
          <p:cNvSpPr>
            <a:spLocks xmlns:a="http://schemas.openxmlformats.org/drawingml/2006/main" noGrp="1"/>
          </p:cNvSpPr>
          <p:nvPr/>
        </p:nvSpPr>
        <p:spPr>
          <a:xfrm xmlns:a="http://schemas.openxmlformats.org/drawingml/2006/main">
            <a:off x="4648200" y="18288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87A55"/>
                </a:solidFill>
              </a:defRPr>
            </a:pPr>
            <a:r>
              <a:rPr sz="1200" b="1">
                <a:solidFill>
                  <a:srgbClr val="287A55"/>
                </a:solidFill>
              </a:rPr>
              <a:t>news  •  positive</a:t>
            </a:r>
          </a:p>
        </p:txBody>
      </p:sp>
      <p:sp>
        <p:nvSpPr>
          <p:cNvPr id="12" name="">
            <a:extLst xmlns:a="http://schemas.openxmlformats.org/drawingml/2006/main">
              <a:ext uri="{FF2B5EF4-FFF2-40B4-BE49-F238E27FC236}">
                <a16:creationId xmlns:a16="http://schemas.microsoft.com/office/drawing/2014/main" id="{01A0F4AF-0335-4B08-B66E-C0A984712BF6}"/>
              </a:ext>
            </a:extLst>
          </p:cNvPr>
          <p:cNvSpPr>
            <a:spLocks xmlns:a="http://schemas.openxmlformats.org/drawingml/2006/main" noGrp="1"/>
          </p:cNvSpPr>
          <p:nvPr/>
        </p:nvSpPr>
        <p:spPr>
          <a:xfrm xmlns:a="http://schemas.openxmlformats.org/drawingml/2006/main">
            <a:off x="4648200" y="228600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150E"/>
                </a:solidFill>
              </a:defRPr>
            </a:pPr>
            <a:r>
              <a:rPr sz="1650" b="1">
                <a:solidFill>
                  <a:srgbClr val="24150E"/>
                </a:solidFill>
              </a:rPr>
              <a:t>77 Tahun Wanita UMNO: Teguh Berkhidmat, Terus Mewarisi – Wan Mohalina</a:t>
            </a:r>
          </a:p>
        </p:txBody>
      </p:sp>
      <p:sp>
        <p:nvSpPr>
          <p:cNvPr id="13" name="">
            <a:extLst xmlns:a="http://schemas.openxmlformats.org/drawingml/2006/main">
              <a:ext uri="{FF2B5EF4-FFF2-40B4-BE49-F238E27FC236}">
                <a16:creationId xmlns:a16="http://schemas.microsoft.com/office/drawing/2014/main" id="{781A5E9B-CFE1-4B26-8CEA-880628B77CB3}"/>
              </a:ext>
            </a:extLst>
          </p:cNvPr>
          <p:cNvSpPr>
            <a:spLocks xmlns:a="http://schemas.openxmlformats.org/drawingml/2006/main" noGrp="1"/>
          </p:cNvSpPr>
          <p:nvPr/>
        </p:nvSpPr>
        <p:spPr>
          <a:xfrm xmlns:a="http://schemas.openxmlformats.org/drawingml/2006/main">
            <a:off x="4648200" y="3333750"/>
            <a:ext cx="29718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KUALA LUMPUR, 26 Ogos – Wanita UMNO sudah 77 tahun membuktikan kekuatan perjuangan, kesetiaan, keberanian dan kesungguhan untuk terus turun padang bersama rakyat, kata Exco Wanita UMNO, Wan Mohalina Wan Mohamad. Beliau yang lebih dikenali sebagai Kak</a:t>
            </a:r>
          </a:p>
        </p:txBody>
      </p:sp>
      <p:sp>
        <p:nvSpPr>
          <p:cNvPr id="14" name="">
            <a:extLst xmlns:a="http://schemas.openxmlformats.org/drawingml/2006/main">
              <a:ext uri="{FF2B5EF4-FFF2-40B4-BE49-F238E27FC236}">
                <a16:creationId xmlns:a16="http://schemas.microsoft.com/office/drawing/2014/main" id="{12562105-8793-49FD-8BD1-D12883F8EA47}"/>
              </a:ext>
            </a:extLst>
          </p:cNvPr>
          <p:cNvSpPr>
            <a:spLocks xmlns:a="http://schemas.openxmlformats.org/drawingml/2006/main" noGrp="1"/>
          </p:cNvSpPr>
          <p:nvPr/>
        </p:nvSpPr>
        <p:spPr>
          <a:xfrm xmlns:a="http://schemas.openxmlformats.org/drawingml/2006/main">
            <a:off x="4648200" y="5000625"/>
            <a:ext cx="2971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3A18"/>
                </a:solidFill>
              </a:defRPr>
            </a:pPr>
            <a:r>
              <a:rPr sz="1050" b="1">
                <a:solidFill>
                  <a:srgbClr val="B83A18"/>
                </a:solidFill>
              </a:rPr>
              <a:t>umno-online.my</a:t>
            </a:r>
          </a:p>
          <a:p xmlns:a="http://schemas.openxmlformats.org/drawingml/2006/main">
            <a:pPr algn="l">
              <a:defRPr sz="1050" b="1">
                <a:solidFill>
                  <a:srgbClr val="B83A18"/>
                </a:solidFill>
              </a:defRPr>
            </a:pPr>
            <a:r>
              <a:rPr sz="1050" b="1">
                <a:solidFill>
                  <a:srgbClr val="B83A18"/>
                </a:solidFill>
              </a:rPr>
              <a:t>2026-08-27</a:t>
            </a:r>
          </a:p>
        </p:txBody>
      </p:sp>
      <p:sp>
        <p:nvSpPr>
          <p:cNvPr id="15" name="">
            <a:extLst xmlns:a="http://schemas.openxmlformats.org/drawingml/2006/main">
              <a:ext uri="{FF2B5EF4-FFF2-40B4-BE49-F238E27FC236}">
                <a16:creationId xmlns:a16="http://schemas.microsoft.com/office/drawing/2014/main" id="{A4BC1D74-3B08-434F-B09D-AA35DE308412}"/>
              </a:ext>
            </a:extLst>
          </p:cNvPr>
          <p:cNvSpPr>
            <a:spLocks xmlns:a="http://schemas.openxmlformats.org/drawingml/2006/main" noGrp="1"/>
          </p:cNvSpPr>
          <p:nvPr/>
        </p:nvSpPr>
        <p:spPr>
          <a:xfrm xmlns:a="http://schemas.openxmlformats.org/drawingml/2006/main">
            <a:off x="8229600" y="1571625"/>
            <a:ext cx="3429000" cy="409575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ECD6C7"/>
            </a:solidFill>
            <a:prstDash val="solid"/>
          </a:ln>
        </p:spPr>
      </p:sp>
      <p:sp>
        <p:nvSpPr>
          <p:cNvPr id="16" name="">
            <a:extLst xmlns:a="http://schemas.openxmlformats.org/drawingml/2006/main">
              <a:ext uri="{FF2B5EF4-FFF2-40B4-BE49-F238E27FC236}">
                <a16:creationId xmlns:a16="http://schemas.microsoft.com/office/drawing/2014/main" id="{21AB839D-8E0A-4864-8CB8-E7960D9C262F}"/>
              </a:ext>
            </a:extLst>
          </p:cNvPr>
          <p:cNvSpPr>
            <a:spLocks xmlns:a="http://schemas.openxmlformats.org/drawingml/2006/main" noGrp="1"/>
          </p:cNvSpPr>
          <p:nvPr/>
        </p:nvSpPr>
        <p:spPr>
          <a:xfrm xmlns:a="http://schemas.openxmlformats.org/drawingml/2006/main">
            <a:off x="8458200" y="18288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C78A2"/>
                </a:solidFill>
              </a:defRPr>
            </a:pPr>
            <a:r>
              <a:rPr sz="1200" b="1">
                <a:solidFill>
                  <a:srgbClr val="6C78A2"/>
                </a:solidFill>
              </a:rPr>
              <a:t>news  •  neutral</a:t>
            </a:r>
          </a:p>
        </p:txBody>
      </p:sp>
      <p:sp>
        <p:nvSpPr>
          <p:cNvPr id="17" name="">
            <a:extLst xmlns:a="http://schemas.openxmlformats.org/drawingml/2006/main">
              <a:ext uri="{FF2B5EF4-FFF2-40B4-BE49-F238E27FC236}">
                <a16:creationId xmlns:a16="http://schemas.microsoft.com/office/drawing/2014/main" id="{3069D840-1752-4654-8915-FC196647E93C}"/>
              </a:ext>
            </a:extLst>
          </p:cNvPr>
          <p:cNvSpPr>
            <a:spLocks xmlns:a="http://schemas.openxmlformats.org/drawingml/2006/main" noGrp="1"/>
          </p:cNvSpPr>
          <p:nvPr/>
        </p:nvSpPr>
        <p:spPr>
          <a:xfrm xmlns:a="http://schemas.openxmlformats.org/drawingml/2006/main">
            <a:off x="8458200" y="228600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4150E"/>
                </a:solidFill>
              </a:defRPr>
            </a:pPr>
            <a:r>
              <a:rPr sz="1650" b="1">
                <a:solidFill>
                  <a:srgbClr val="24150E"/>
                </a:solidFill>
              </a:rPr>
              <a:t>BN-PH Hampir Bahagi Kerusi Di PRN Melaka, Tiba-Tiba Rundingan Didakwa Bakal Tak Jadi</a:t>
            </a:r>
          </a:p>
        </p:txBody>
      </p:sp>
      <p:sp>
        <p:nvSpPr>
          <p:cNvPr id="18" name="">
            <a:extLst xmlns:a="http://schemas.openxmlformats.org/drawingml/2006/main">
              <a:ext uri="{FF2B5EF4-FFF2-40B4-BE49-F238E27FC236}">
                <a16:creationId xmlns:a16="http://schemas.microsoft.com/office/drawing/2014/main" id="{513319F6-47C3-4F15-B89B-6A332C2A4CC4}"/>
              </a:ext>
            </a:extLst>
          </p:cNvPr>
          <p:cNvSpPr>
            <a:spLocks xmlns:a="http://schemas.openxmlformats.org/drawingml/2006/main" noGrp="1"/>
          </p:cNvSpPr>
          <p:nvPr/>
        </p:nvSpPr>
        <p:spPr>
          <a:xfrm xmlns:a="http://schemas.openxmlformats.org/drawingml/2006/main">
            <a:off x="8458200" y="3333750"/>
            <a:ext cx="29718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7C6256"/>
                </a:solidFill>
              </a:defRPr>
            </a:pPr>
            <a:r>
              <a:rPr sz="1200" b="0">
                <a:solidFill>
                  <a:srgbClr val="7C6256"/>
                </a:solidFill>
              </a:rPr>
              <a:t>KUALA LUMPUR: Rundingan kerjasama antara Barisan Nasional (BN) dan Pakatan Harapan (PH) bagi menghadapi Pilihan Raya Negeri (PRN) Melaka dipercayai berdepan ketidakpastian susulan perkembangan terbaharu membabitkan beberapa pemimpin UMNO. Ketua UMNO</a:t>
            </a:r>
          </a:p>
        </p:txBody>
      </p:sp>
      <p:sp>
        <p:nvSpPr>
          <p:cNvPr id="19" name="">
            <a:extLst xmlns:a="http://schemas.openxmlformats.org/drawingml/2006/main">
              <a:ext uri="{FF2B5EF4-FFF2-40B4-BE49-F238E27FC236}">
                <a16:creationId xmlns:a16="http://schemas.microsoft.com/office/drawing/2014/main" id="{FF35B3F2-C2A3-4A5A-891C-7EA5FE4FA825}"/>
              </a:ext>
            </a:extLst>
          </p:cNvPr>
          <p:cNvSpPr>
            <a:spLocks xmlns:a="http://schemas.openxmlformats.org/drawingml/2006/main" noGrp="1"/>
          </p:cNvSpPr>
          <p:nvPr/>
        </p:nvSpPr>
        <p:spPr>
          <a:xfrm xmlns:a="http://schemas.openxmlformats.org/drawingml/2006/main">
            <a:off x="8458200" y="5000625"/>
            <a:ext cx="2971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83A18"/>
                </a:solidFill>
              </a:defRPr>
            </a:pPr>
            <a:r>
              <a:rPr sz="1050" b="1">
                <a:solidFill>
                  <a:srgbClr val="B83A18"/>
                </a:solidFill>
              </a:rPr>
              <a:t>demirakyatchannel.my</a:t>
            </a:r>
          </a:p>
          <a:p xmlns:a="http://schemas.openxmlformats.org/drawingml/2006/main">
            <a:pPr algn="l">
              <a:defRPr sz="1050" b="1">
                <a:solidFill>
                  <a:srgbClr val="B83A18"/>
                </a:solidFill>
              </a:defRPr>
            </a:pPr>
            <a:r>
              <a:rPr sz="1050" b="1">
                <a:solidFill>
                  <a:srgbClr val="B83A18"/>
                </a:solidFill>
              </a:rPr>
              <a:t>2026-08-27</a:t>
            </a:r>
          </a:p>
        </p:txBody>
      </p:sp>
      <p:sp>
        <p:nvSpPr>
          <p:cNvPr id="20" name="">
            <a:extLst xmlns:a="http://schemas.openxmlformats.org/drawingml/2006/main">
              <a:ext uri="{FF2B5EF4-FFF2-40B4-BE49-F238E27FC236}">
                <a16:creationId xmlns:a16="http://schemas.microsoft.com/office/drawing/2014/main" id="{505BCCDE-EBA2-4867-B063-F719A123D010}"/>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21" name="">
            <a:extLst xmlns:a="http://schemas.openxmlformats.org/drawingml/2006/main">
              <a:ext uri="{FF2B5EF4-FFF2-40B4-BE49-F238E27FC236}">
                <a16:creationId xmlns:a16="http://schemas.microsoft.com/office/drawing/2014/main" id="{494B9AD9-A9B6-40C7-BF80-FCE3149664AD}"/>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22" name="">
            <a:extLst xmlns:a="http://schemas.openxmlformats.org/drawingml/2006/main">
              <a:ext uri="{FF2B5EF4-FFF2-40B4-BE49-F238E27FC236}">
                <a16:creationId xmlns:a16="http://schemas.microsoft.com/office/drawing/2014/main" id="{D94A16BD-0A42-446D-A966-EBFF5D60C132}"/>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1333179863"/>
      </p:ext>
    </p:extLst>
  </p:cSld>
</p:sld>
</file>

<file path=ppt/slides/slide9.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A5B9523-6487-4440-8FD9-63548742E9BC}"/>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B8BC27-51B3-4F34-8DFE-EC825B93662A}"/>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CONVERSATION SIGNALS</a:t>
            </a:r>
          </a:p>
        </p:txBody>
      </p:sp>
      <p:sp>
        <p:nvSpPr>
          <p:cNvPr id="3" name="slide-9-title">
            <a:extLst xmlns:a="http://schemas.openxmlformats.org/drawingml/2006/main">
              <a:ext uri="{FF2B5EF4-FFF2-40B4-BE49-F238E27FC236}">
                <a16:creationId xmlns:a16="http://schemas.microsoft.com/office/drawing/2014/main" id="{BE77A277-8AE7-43BF-9C18-C924BCE2069B}"/>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Shared links and hashtags reveal the conversation signals</a:t>
            </a:r>
          </a:p>
        </p:txBody>
      </p:sp>
      <p:sp>
        <p:nvSpPr>
          <p:cNvPr id="4" name="">
            <a:extLst xmlns:a="http://schemas.openxmlformats.org/drawingml/2006/main">
              <a:ext uri="{FF2B5EF4-FFF2-40B4-BE49-F238E27FC236}">
                <a16:creationId xmlns:a16="http://schemas.microsoft.com/office/drawing/2014/main" id="{DD7922FE-E9BA-4805-8137-3C08E72882D8}"/>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09</a:t>
            </a:r>
          </a:p>
        </p:txBody>
      </p:sp>
      <p:sp>
        <p:nvSpPr>
          <p:cNvPr id="5" name="">
            <a:extLst xmlns:a="http://schemas.openxmlformats.org/drawingml/2006/main">
              <a:ext uri="{FF2B5EF4-FFF2-40B4-BE49-F238E27FC236}">
                <a16:creationId xmlns:a16="http://schemas.microsoft.com/office/drawing/2014/main" id="{95E2DCE5-B413-4779-A372-009AB0DA2C5E}"/>
              </a:ext>
            </a:extLst>
          </p:cNvPr>
          <p:cNvSpPr>
            <a:spLocks xmlns:a="http://schemas.openxmlformats.org/drawingml/2006/main" noGrp="1"/>
          </p:cNvSpPr>
          <p:nvPr/>
        </p:nvSpPr>
        <p:spPr>
          <a:xfrm xmlns:a="http://schemas.openxmlformats.org/drawingml/2006/main">
            <a:off x="666750" y="147637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B83A18"/>
                </a:solidFill>
              </a:defRPr>
            </a:pPr>
            <a:r>
              <a:rPr sz="1950" b="1">
                <a:solidFill>
                  <a:srgbClr val="B83A18"/>
                </a:solidFill>
              </a:rPr>
              <a:t>Trending links</a:t>
            </a:r>
          </a:p>
        </p:txBody>
      </p:sp>
      <p:sp>
        <p:nvSpPr>
          <p:cNvPr id="6" name="">
            <a:extLst xmlns:a="http://schemas.openxmlformats.org/drawingml/2006/main">
              <a:ext uri="{FF2B5EF4-FFF2-40B4-BE49-F238E27FC236}">
                <a16:creationId xmlns:a16="http://schemas.microsoft.com/office/drawing/2014/main" id="{88F72350-067C-4613-A367-CAE7863D916F}"/>
              </a:ext>
            </a:extLst>
          </p:cNvPr>
          <p:cNvSpPr>
            <a:spLocks xmlns:a="http://schemas.openxmlformats.org/drawingml/2006/main" noGrp="1"/>
          </p:cNvSpPr>
          <p:nvPr/>
        </p:nvSpPr>
        <p:spPr>
          <a:xfrm xmlns:a="http://schemas.openxmlformats.org/drawingml/2006/main">
            <a:off x="6667500" y="1476375"/>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B83A18"/>
                </a:solidFill>
              </a:defRPr>
            </a:pPr>
            <a:r>
              <a:rPr sz="1950" b="1">
                <a:solidFill>
                  <a:srgbClr val="B83A18"/>
                </a:solidFill>
              </a:rPr>
              <a:t>Trending hashtags</a:t>
            </a:r>
          </a:p>
        </p:txBody>
      </p:sp>
      <p:sp>
        <p:nvSpPr>
          <p:cNvPr id="7" name="">
            <a:extLst xmlns:a="http://schemas.openxmlformats.org/drawingml/2006/main">
              <a:ext uri="{FF2B5EF4-FFF2-40B4-BE49-F238E27FC236}">
                <a16:creationId xmlns:a16="http://schemas.microsoft.com/office/drawing/2014/main" id="{A785257A-04AC-4B2D-8A43-3D1D58703B52}"/>
              </a:ext>
            </a:extLst>
          </p:cNvPr>
          <p:cNvSpPr>
            <a:spLocks xmlns:a="http://schemas.openxmlformats.org/drawingml/2006/main" noGrp="1"/>
          </p:cNvSpPr>
          <p:nvPr/>
        </p:nvSpPr>
        <p:spPr>
          <a:xfrm xmlns:a="http://schemas.openxmlformats.org/drawingml/2006/main">
            <a:off x="666750" y="20955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4150E"/>
                </a:solidFill>
              </a:defRPr>
            </a:pPr>
            <a:r>
              <a:rPr sz="1275" b="1">
                <a:solidFill>
                  <a:srgbClr val="24150E"/>
                </a:solidFill>
              </a:rPr>
              <a:t>https://www.youtube.com/channel/ucrt_wq1t3mgl2yp8lom_oka/join</a:t>
            </a:r>
          </a:p>
        </p:txBody>
      </p:sp>
      <p:sp>
        <p:nvSpPr>
          <p:cNvPr id="8" name="">
            <a:extLst xmlns:a="http://schemas.openxmlformats.org/drawingml/2006/main">
              <a:ext uri="{FF2B5EF4-FFF2-40B4-BE49-F238E27FC236}">
                <a16:creationId xmlns:a16="http://schemas.microsoft.com/office/drawing/2014/main" id="{C5CA2C38-FB93-4B0F-B19B-5A6DB8AD62B9}"/>
              </a:ext>
            </a:extLst>
          </p:cNvPr>
          <p:cNvSpPr>
            <a:spLocks xmlns:a="http://schemas.openxmlformats.org/drawingml/2006/main" noGrp="1"/>
          </p:cNvSpPr>
          <p:nvPr/>
        </p:nvSpPr>
        <p:spPr>
          <a:xfrm xmlns:a="http://schemas.openxmlformats.org/drawingml/2006/main">
            <a:off x="5238750" y="20955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B83A18"/>
                </a:solidFill>
              </a:defRPr>
            </a:pPr>
            <a:r>
              <a:rPr sz="1200" b="1">
                <a:solidFill>
                  <a:srgbClr val="B83A18"/>
                </a:solidFill>
              </a:rPr>
              <a:t>7 mentions</a:t>
            </a:r>
          </a:p>
        </p:txBody>
      </p:sp>
      <p:sp>
        <p:nvSpPr>
          <p:cNvPr id="9" name="">
            <a:extLst xmlns:a="http://schemas.openxmlformats.org/drawingml/2006/main">
              <a:ext uri="{FF2B5EF4-FFF2-40B4-BE49-F238E27FC236}">
                <a16:creationId xmlns:a16="http://schemas.microsoft.com/office/drawing/2014/main" id="{BD1189BF-741E-48CE-894B-39EBC30BA926}"/>
              </a:ext>
            </a:extLst>
          </p:cNvPr>
          <p:cNvSpPr>
            <a:spLocks xmlns:a="http://schemas.openxmlformats.org/drawingml/2006/main" noGrp="1"/>
          </p:cNvSpPr>
          <p:nvPr/>
        </p:nvSpPr>
        <p:spPr>
          <a:xfrm xmlns:a="http://schemas.openxmlformats.org/drawingml/2006/main">
            <a:off x="666750" y="26860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4150E"/>
                </a:solidFill>
              </a:defRPr>
            </a:pPr>
            <a:r>
              <a:rPr sz="1275" b="1">
                <a:solidFill>
                  <a:srgbClr val="24150E"/>
                </a:solidFill>
              </a:rPr>
              <a:t>https://www.malaysiakini.com/news/783041</a:t>
            </a:r>
          </a:p>
        </p:txBody>
      </p:sp>
      <p:sp>
        <p:nvSpPr>
          <p:cNvPr id="10" name="">
            <a:extLst xmlns:a="http://schemas.openxmlformats.org/drawingml/2006/main">
              <a:ext uri="{FF2B5EF4-FFF2-40B4-BE49-F238E27FC236}">
                <a16:creationId xmlns:a16="http://schemas.microsoft.com/office/drawing/2014/main" id="{F6CC49D3-0A5F-49B7-9A52-B30BC00FF53F}"/>
              </a:ext>
            </a:extLst>
          </p:cNvPr>
          <p:cNvSpPr>
            <a:spLocks xmlns:a="http://schemas.openxmlformats.org/drawingml/2006/main" noGrp="1"/>
          </p:cNvSpPr>
          <p:nvPr/>
        </p:nvSpPr>
        <p:spPr>
          <a:xfrm xmlns:a="http://schemas.openxmlformats.org/drawingml/2006/main">
            <a:off x="5238750" y="268605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B83A18"/>
                </a:solidFill>
              </a:defRPr>
            </a:pPr>
            <a:r>
              <a:rPr sz="1200" b="1">
                <a:solidFill>
                  <a:srgbClr val="B83A18"/>
                </a:solidFill>
              </a:rPr>
              <a:t>3 mentions</a:t>
            </a:r>
          </a:p>
        </p:txBody>
      </p:sp>
      <p:sp>
        <p:nvSpPr>
          <p:cNvPr id="11" name="">
            <a:extLst xmlns:a="http://schemas.openxmlformats.org/drawingml/2006/main">
              <a:ext uri="{FF2B5EF4-FFF2-40B4-BE49-F238E27FC236}">
                <a16:creationId xmlns:a16="http://schemas.microsoft.com/office/drawing/2014/main" id="{4EA94726-5B3D-4003-9EDE-9E1F0596127D}"/>
              </a:ext>
            </a:extLst>
          </p:cNvPr>
          <p:cNvSpPr>
            <a:spLocks xmlns:a="http://schemas.openxmlformats.org/drawingml/2006/main" noGrp="1"/>
          </p:cNvSpPr>
          <p:nvPr/>
        </p:nvSpPr>
        <p:spPr>
          <a:xfrm xmlns:a="http://schemas.openxmlformats.org/drawingml/2006/main">
            <a:off x="666750" y="32766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4150E"/>
                </a:solidFill>
              </a:defRPr>
            </a:pPr>
            <a:r>
              <a:rPr sz="1275" b="1">
                <a:solidFill>
                  <a:srgbClr val="24150E"/>
                </a:solidFill>
              </a:rPr>
              <a:t>https://www.sinarharian.com.my/article/793885/berita/politik/…</a:t>
            </a:r>
          </a:p>
        </p:txBody>
      </p:sp>
      <p:sp>
        <p:nvSpPr>
          <p:cNvPr id="12" name="">
            <a:extLst xmlns:a="http://schemas.openxmlformats.org/drawingml/2006/main">
              <a:ext uri="{FF2B5EF4-FFF2-40B4-BE49-F238E27FC236}">
                <a16:creationId xmlns:a16="http://schemas.microsoft.com/office/drawing/2014/main" id="{F41492EF-67CD-4378-BFCA-7C72E4103A1E}"/>
              </a:ext>
            </a:extLst>
          </p:cNvPr>
          <p:cNvSpPr>
            <a:spLocks xmlns:a="http://schemas.openxmlformats.org/drawingml/2006/main" noGrp="1"/>
          </p:cNvSpPr>
          <p:nvPr/>
        </p:nvSpPr>
        <p:spPr>
          <a:xfrm xmlns:a="http://schemas.openxmlformats.org/drawingml/2006/main">
            <a:off x="5238750" y="32766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B83A18"/>
                </a:solidFill>
              </a:defRPr>
            </a:pPr>
            <a:r>
              <a:rPr sz="1200" b="1">
                <a:solidFill>
                  <a:srgbClr val="B83A18"/>
                </a:solidFill>
              </a:rPr>
              <a:t>3 mentions</a:t>
            </a:r>
          </a:p>
        </p:txBody>
      </p:sp>
      <p:sp>
        <p:nvSpPr>
          <p:cNvPr id="13" name="">
            <a:extLst xmlns:a="http://schemas.openxmlformats.org/drawingml/2006/main">
              <a:ext uri="{FF2B5EF4-FFF2-40B4-BE49-F238E27FC236}">
                <a16:creationId xmlns:a16="http://schemas.microsoft.com/office/drawing/2014/main" id="{205DCC36-EA97-43C4-A6ED-8F7CBA2289B6}"/>
              </a:ext>
            </a:extLst>
          </p:cNvPr>
          <p:cNvSpPr>
            <a:spLocks xmlns:a="http://schemas.openxmlformats.org/drawingml/2006/main" noGrp="1"/>
          </p:cNvSpPr>
          <p:nvPr/>
        </p:nvSpPr>
        <p:spPr>
          <a:xfrm xmlns:a="http://schemas.openxmlformats.org/drawingml/2006/main">
            <a:off x="666750" y="38671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4150E"/>
                </a:solidFill>
              </a:defRPr>
            </a:pPr>
            <a:r>
              <a:rPr sz="1275" b="1">
                <a:solidFill>
                  <a:srgbClr val="24150E"/>
                </a:solidFill>
              </a:rPr>
              <a:t>https://www.freemalaysiatoday.com/category/nation/sabahsarawa…</a:t>
            </a:r>
          </a:p>
        </p:txBody>
      </p:sp>
      <p:sp>
        <p:nvSpPr>
          <p:cNvPr id="14" name="">
            <a:extLst xmlns:a="http://schemas.openxmlformats.org/drawingml/2006/main">
              <a:ext uri="{FF2B5EF4-FFF2-40B4-BE49-F238E27FC236}">
                <a16:creationId xmlns:a16="http://schemas.microsoft.com/office/drawing/2014/main" id="{953BAEEB-8AFD-462A-BDA6-AF1F41A2FDCB}"/>
              </a:ext>
            </a:extLst>
          </p:cNvPr>
          <p:cNvSpPr>
            <a:spLocks xmlns:a="http://schemas.openxmlformats.org/drawingml/2006/main" noGrp="1"/>
          </p:cNvSpPr>
          <p:nvPr/>
        </p:nvSpPr>
        <p:spPr>
          <a:xfrm xmlns:a="http://schemas.openxmlformats.org/drawingml/2006/main">
            <a:off x="5238750" y="386715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B83A18"/>
                </a:solidFill>
              </a:defRPr>
            </a:pPr>
            <a:r>
              <a:rPr sz="1200" b="1">
                <a:solidFill>
                  <a:srgbClr val="B83A18"/>
                </a:solidFill>
              </a:rPr>
              <a:t>2 mentions</a:t>
            </a:r>
          </a:p>
        </p:txBody>
      </p:sp>
      <p:sp>
        <p:nvSpPr>
          <p:cNvPr id="15" name="">
            <a:extLst xmlns:a="http://schemas.openxmlformats.org/drawingml/2006/main">
              <a:ext uri="{FF2B5EF4-FFF2-40B4-BE49-F238E27FC236}">
                <a16:creationId xmlns:a16="http://schemas.microsoft.com/office/drawing/2014/main" id="{038574B0-3D45-4E08-82AC-CF8889C985FF}"/>
              </a:ext>
            </a:extLst>
          </p:cNvPr>
          <p:cNvSpPr>
            <a:spLocks xmlns:a="http://schemas.openxmlformats.org/drawingml/2006/main" noGrp="1"/>
          </p:cNvSpPr>
          <p:nvPr/>
        </p:nvSpPr>
        <p:spPr>
          <a:xfrm xmlns:a="http://schemas.openxmlformats.org/drawingml/2006/main">
            <a:off x="666750" y="44577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4150E"/>
                </a:solidFill>
              </a:defRPr>
            </a:pPr>
            <a:r>
              <a:rPr sz="1275" b="1">
                <a:solidFill>
                  <a:srgbClr val="24150E"/>
                </a:solidFill>
              </a:rPr>
              <a:t>https://youtu.be/6xiqzbti4ic</a:t>
            </a:r>
          </a:p>
        </p:txBody>
      </p:sp>
      <p:sp>
        <p:nvSpPr>
          <p:cNvPr id="16" name="">
            <a:extLst xmlns:a="http://schemas.openxmlformats.org/drawingml/2006/main">
              <a:ext uri="{FF2B5EF4-FFF2-40B4-BE49-F238E27FC236}">
                <a16:creationId xmlns:a16="http://schemas.microsoft.com/office/drawing/2014/main" id="{5BB74FC9-7E7B-48BF-BB92-F88A33208AC7}"/>
              </a:ext>
            </a:extLst>
          </p:cNvPr>
          <p:cNvSpPr>
            <a:spLocks xmlns:a="http://schemas.openxmlformats.org/drawingml/2006/main" noGrp="1"/>
          </p:cNvSpPr>
          <p:nvPr/>
        </p:nvSpPr>
        <p:spPr>
          <a:xfrm xmlns:a="http://schemas.openxmlformats.org/drawingml/2006/main">
            <a:off x="5238750" y="4457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B83A18"/>
                </a:solidFill>
              </a:defRPr>
            </a:pPr>
            <a:r>
              <a:rPr sz="1200" b="1">
                <a:solidFill>
                  <a:srgbClr val="B83A18"/>
                </a:solidFill>
              </a:rPr>
              <a:t>2 mentions</a:t>
            </a:r>
          </a:p>
        </p:txBody>
      </p:sp>
      <p:sp>
        <p:nvSpPr>
          <p:cNvPr id="17" name="">
            <a:extLst xmlns:a="http://schemas.openxmlformats.org/drawingml/2006/main">
              <a:ext uri="{FF2B5EF4-FFF2-40B4-BE49-F238E27FC236}">
                <a16:creationId xmlns:a16="http://schemas.microsoft.com/office/drawing/2014/main" id="{2693E77D-4937-41A9-A89D-577232EA6861}"/>
              </a:ext>
            </a:extLst>
          </p:cNvPr>
          <p:cNvSpPr>
            <a:spLocks xmlns:a="http://schemas.openxmlformats.org/drawingml/2006/main" noGrp="1"/>
          </p:cNvSpPr>
          <p:nvPr/>
        </p:nvSpPr>
        <p:spPr>
          <a:xfrm xmlns:a="http://schemas.openxmlformats.org/drawingml/2006/main">
            <a:off x="666750" y="50482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4150E"/>
                </a:solidFill>
              </a:defRPr>
            </a:pPr>
            <a:r>
              <a:rPr sz="1275" b="1">
                <a:solidFill>
                  <a:srgbClr val="24150E"/>
                </a:solidFill>
              </a:rPr>
              <a:t>https://open.spotify.com/show/7vb18tu</a:t>
            </a:r>
          </a:p>
        </p:txBody>
      </p:sp>
      <p:sp>
        <p:nvSpPr>
          <p:cNvPr id="18" name="">
            <a:extLst xmlns:a="http://schemas.openxmlformats.org/drawingml/2006/main">
              <a:ext uri="{FF2B5EF4-FFF2-40B4-BE49-F238E27FC236}">
                <a16:creationId xmlns:a16="http://schemas.microsoft.com/office/drawing/2014/main" id="{1801BE54-473A-4868-B50D-0D63D392F1BD}"/>
              </a:ext>
            </a:extLst>
          </p:cNvPr>
          <p:cNvSpPr>
            <a:spLocks xmlns:a="http://schemas.openxmlformats.org/drawingml/2006/main" noGrp="1"/>
          </p:cNvSpPr>
          <p:nvPr/>
        </p:nvSpPr>
        <p:spPr>
          <a:xfrm xmlns:a="http://schemas.openxmlformats.org/drawingml/2006/main">
            <a:off x="5238750" y="504825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B83A18"/>
                </a:solidFill>
              </a:defRPr>
            </a:pPr>
            <a:r>
              <a:rPr sz="1200" b="1">
                <a:solidFill>
                  <a:srgbClr val="B83A18"/>
                </a:solidFill>
              </a:rPr>
              <a:t>2 mentions</a:t>
            </a:r>
          </a:p>
        </p:txBody>
      </p:sp>
      <p:sp>
        <p:nvSpPr>
          <p:cNvPr id="19" name="">
            <a:extLst xmlns:a="http://schemas.openxmlformats.org/drawingml/2006/main">
              <a:ext uri="{FF2B5EF4-FFF2-40B4-BE49-F238E27FC236}">
                <a16:creationId xmlns:a16="http://schemas.microsoft.com/office/drawing/2014/main" id="{AB01876B-8A2D-4EE2-A308-8CD8A4ECB2C6}"/>
              </a:ext>
            </a:extLst>
          </p:cNvPr>
          <p:cNvSpPr>
            <a:spLocks xmlns:a="http://schemas.openxmlformats.org/drawingml/2006/main" noGrp="1"/>
          </p:cNvSpPr>
          <p:nvPr/>
        </p:nvSpPr>
        <p:spPr>
          <a:xfrm xmlns:a="http://schemas.openxmlformats.org/drawingml/2006/main">
            <a:off x="6667500" y="20955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#umno</a:t>
            </a:r>
          </a:p>
        </p:txBody>
      </p:sp>
      <p:sp>
        <p:nvSpPr>
          <p:cNvPr id="20" name="">
            <a:extLst xmlns:a="http://schemas.openxmlformats.org/drawingml/2006/main">
              <a:ext uri="{FF2B5EF4-FFF2-40B4-BE49-F238E27FC236}">
                <a16:creationId xmlns:a16="http://schemas.microsoft.com/office/drawing/2014/main" id="{B952E91B-BBD3-42E0-91F2-DBD1EF81D0FA}"/>
              </a:ext>
            </a:extLst>
          </p:cNvPr>
          <p:cNvSpPr>
            <a:spLocks xmlns:a="http://schemas.openxmlformats.org/drawingml/2006/main" noGrp="1"/>
          </p:cNvSpPr>
          <p:nvPr/>
        </p:nvSpPr>
        <p:spPr>
          <a:xfrm xmlns:a="http://schemas.openxmlformats.org/drawingml/2006/main">
            <a:off x="9715500" y="20955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107  •  1.4M reach</a:t>
            </a:r>
          </a:p>
        </p:txBody>
      </p:sp>
      <p:sp>
        <p:nvSpPr>
          <p:cNvPr id="21" name="">
            <a:extLst xmlns:a="http://schemas.openxmlformats.org/drawingml/2006/main">
              <a:ext uri="{FF2B5EF4-FFF2-40B4-BE49-F238E27FC236}">
                <a16:creationId xmlns:a16="http://schemas.microsoft.com/office/drawing/2014/main" id="{4F5377EC-0C04-4416-AE75-35EBCB6E87EF}"/>
              </a:ext>
            </a:extLst>
          </p:cNvPr>
          <p:cNvSpPr>
            <a:spLocks xmlns:a="http://schemas.openxmlformats.org/drawingml/2006/main" noGrp="1"/>
          </p:cNvSpPr>
          <p:nvPr/>
        </p:nvSpPr>
        <p:spPr>
          <a:xfrm xmlns:a="http://schemas.openxmlformats.org/drawingml/2006/main">
            <a:off x="6667500" y="2552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#pas</a:t>
            </a:r>
          </a:p>
        </p:txBody>
      </p:sp>
      <p:sp>
        <p:nvSpPr>
          <p:cNvPr id="22" name="">
            <a:extLst xmlns:a="http://schemas.openxmlformats.org/drawingml/2006/main">
              <a:ext uri="{FF2B5EF4-FFF2-40B4-BE49-F238E27FC236}">
                <a16:creationId xmlns:a16="http://schemas.microsoft.com/office/drawing/2014/main" id="{226D9D1C-C492-47FE-9B79-FCE32562A919}"/>
              </a:ext>
            </a:extLst>
          </p:cNvPr>
          <p:cNvSpPr>
            <a:spLocks xmlns:a="http://schemas.openxmlformats.org/drawingml/2006/main" noGrp="1"/>
          </p:cNvSpPr>
          <p:nvPr/>
        </p:nvSpPr>
        <p:spPr>
          <a:xfrm xmlns:a="http://schemas.openxmlformats.org/drawingml/2006/main">
            <a:off x="9715500" y="25527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47  •  244.5K reach</a:t>
            </a:r>
          </a:p>
        </p:txBody>
      </p:sp>
      <p:sp>
        <p:nvSpPr>
          <p:cNvPr id="23" name="">
            <a:extLst xmlns:a="http://schemas.openxmlformats.org/drawingml/2006/main">
              <a:ext uri="{FF2B5EF4-FFF2-40B4-BE49-F238E27FC236}">
                <a16:creationId xmlns:a16="http://schemas.microsoft.com/office/drawing/2014/main" id="{AB91CAB3-C584-4168-8D59-298EDB9C69ED}"/>
              </a:ext>
            </a:extLst>
          </p:cNvPr>
          <p:cNvSpPr>
            <a:spLocks xmlns:a="http://schemas.openxmlformats.org/drawingml/2006/main" noGrp="1"/>
          </p:cNvSpPr>
          <p:nvPr/>
        </p:nvSpPr>
        <p:spPr>
          <a:xfrm xmlns:a="http://schemas.openxmlformats.org/drawingml/2006/main">
            <a:off x="6667500" y="30099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#malaysia</a:t>
            </a:r>
          </a:p>
        </p:txBody>
      </p:sp>
      <p:sp>
        <p:nvSpPr>
          <p:cNvPr id="24" name="">
            <a:extLst xmlns:a="http://schemas.openxmlformats.org/drawingml/2006/main">
              <a:ext uri="{FF2B5EF4-FFF2-40B4-BE49-F238E27FC236}">
                <a16:creationId xmlns:a16="http://schemas.microsoft.com/office/drawing/2014/main" id="{050677F8-0413-4D0E-A206-2A892D835DA7}"/>
              </a:ext>
            </a:extLst>
          </p:cNvPr>
          <p:cNvSpPr>
            <a:spLocks xmlns:a="http://schemas.openxmlformats.org/drawingml/2006/main" noGrp="1"/>
          </p:cNvSpPr>
          <p:nvPr/>
        </p:nvSpPr>
        <p:spPr>
          <a:xfrm xmlns:a="http://schemas.openxmlformats.org/drawingml/2006/main">
            <a:off x="9715500" y="30099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35  •  23.8K reach</a:t>
            </a:r>
          </a:p>
        </p:txBody>
      </p:sp>
      <p:sp>
        <p:nvSpPr>
          <p:cNvPr id="25" name="">
            <a:extLst xmlns:a="http://schemas.openxmlformats.org/drawingml/2006/main">
              <a:ext uri="{FF2B5EF4-FFF2-40B4-BE49-F238E27FC236}">
                <a16:creationId xmlns:a16="http://schemas.microsoft.com/office/drawing/2014/main" id="{F89F741E-BA75-41D5-9AE8-AC10BAA3EE52}"/>
              </a:ext>
            </a:extLst>
          </p:cNvPr>
          <p:cNvSpPr>
            <a:spLocks xmlns:a="http://schemas.openxmlformats.org/drawingml/2006/main" noGrp="1"/>
          </p:cNvSpPr>
          <p:nvPr/>
        </p:nvSpPr>
        <p:spPr>
          <a:xfrm xmlns:a="http://schemas.openxmlformats.org/drawingml/2006/main">
            <a:off x="6667500" y="3467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#politikmalaysia</a:t>
            </a:r>
          </a:p>
        </p:txBody>
      </p:sp>
      <p:sp>
        <p:nvSpPr>
          <p:cNvPr id="26" name="">
            <a:extLst xmlns:a="http://schemas.openxmlformats.org/drawingml/2006/main">
              <a:ext uri="{FF2B5EF4-FFF2-40B4-BE49-F238E27FC236}">
                <a16:creationId xmlns:a16="http://schemas.microsoft.com/office/drawing/2014/main" id="{5EC31A1B-B507-4826-AE19-BD0C565B115E}"/>
              </a:ext>
            </a:extLst>
          </p:cNvPr>
          <p:cNvSpPr>
            <a:spLocks xmlns:a="http://schemas.openxmlformats.org/drawingml/2006/main" noGrp="1"/>
          </p:cNvSpPr>
          <p:nvPr/>
        </p:nvSpPr>
        <p:spPr>
          <a:xfrm xmlns:a="http://schemas.openxmlformats.org/drawingml/2006/main">
            <a:off x="9715500" y="3467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31  •  638.2K reach</a:t>
            </a:r>
          </a:p>
        </p:txBody>
      </p:sp>
      <p:sp>
        <p:nvSpPr>
          <p:cNvPr id="27" name="">
            <a:extLst xmlns:a="http://schemas.openxmlformats.org/drawingml/2006/main">
              <a:ext uri="{FF2B5EF4-FFF2-40B4-BE49-F238E27FC236}">
                <a16:creationId xmlns:a16="http://schemas.microsoft.com/office/drawing/2014/main" id="{2C275C8A-68D5-4973-B9E5-7FA5A32D01A8}"/>
              </a:ext>
            </a:extLst>
          </p:cNvPr>
          <p:cNvSpPr>
            <a:spLocks xmlns:a="http://schemas.openxmlformats.org/drawingml/2006/main" noGrp="1"/>
          </p:cNvSpPr>
          <p:nvPr/>
        </p:nvSpPr>
        <p:spPr>
          <a:xfrm xmlns:a="http://schemas.openxmlformats.org/drawingml/2006/main">
            <a:off x="6667500" y="3924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#fyp</a:t>
            </a:r>
          </a:p>
        </p:txBody>
      </p:sp>
      <p:sp>
        <p:nvSpPr>
          <p:cNvPr id="28" name="">
            <a:extLst xmlns:a="http://schemas.openxmlformats.org/drawingml/2006/main">
              <a:ext uri="{FF2B5EF4-FFF2-40B4-BE49-F238E27FC236}">
                <a16:creationId xmlns:a16="http://schemas.microsoft.com/office/drawing/2014/main" id="{CC92766A-B8A7-40FC-BE85-A235CD344C55}"/>
              </a:ext>
            </a:extLst>
          </p:cNvPr>
          <p:cNvSpPr>
            <a:spLocks xmlns:a="http://schemas.openxmlformats.org/drawingml/2006/main" noGrp="1"/>
          </p:cNvSpPr>
          <p:nvPr/>
        </p:nvSpPr>
        <p:spPr>
          <a:xfrm xmlns:a="http://schemas.openxmlformats.org/drawingml/2006/main">
            <a:off x="9715500" y="39243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23  •  298K reach</a:t>
            </a:r>
          </a:p>
        </p:txBody>
      </p:sp>
      <p:sp>
        <p:nvSpPr>
          <p:cNvPr id="29" name="">
            <a:extLst xmlns:a="http://schemas.openxmlformats.org/drawingml/2006/main">
              <a:ext uri="{FF2B5EF4-FFF2-40B4-BE49-F238E27FC236}">
                <a16:creationId xmlns:a16="http://schemas.microsoft.com/office/drawing/2014/main" id="{EF84EF67-55BB-4B6F-9F96-71865CB19282}"/>
              </a:ext>
            </a:extLst>
          </p:cNvPr>
          <p:cNvSpPr>
            <a:spLocks xmlns:a="http://schemas.openxmlformats.org/drawingml/2006/main" noGrp="1"/>
          </p:cNvSpPr>
          <p:nvPr/>
        </p:nvSpPr>
        <p:spPr>
          <a:xfrm xmlns:a="http://schemas.openxmlformats.org/drawingml/2006/main">
            <a:off x="6667500" y="43815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#politik</a:t>
            </a:r>
          </a:p>
        </p:txBody>
      </p:sp>
      <p:sp>
        <p:nvSpPr>
          <p:cNvPr id="30" name="">
            <a:extLst xmlns:a="http://schemas.openxmlformats.org/drawingml/2006/main">
              <a:ext uri="{FF2B5EF4-FFF2-40B4-BE49-F238E27FC236}">
                <a16:creationId xmlns:a16="http://schemas.microsoft.com/office/drawing/2014/main" id="{3A73053F-68A1-4E9F-BBE6-3FC363E0ECBA}"/>
              </a:ext>
            </a:extLst>
          </p:cNvPr>
          <p:cNvSpPr>
            <a:spLocks xmlns:a="http://schemas.openxmlformats.org/drawingml/2006/main" noGrp="1"/>
          </p:cNvSpPr>
          <p:nvPr/>
        </p:nvSpPr>
        <p:spPr>
          <a:xfrm xmlns:a="http://schemas.openxmlformats.org/drawingml/2006/main">
            <a:off x="9715500" y="43815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20  •  204.8K reach</a:t>
            </a:r>
          </a:p>
        </p:txBody>
      </p:sp>
      <p:sp>
        <p:nvSpPr>
          <p:cNvPr id="31" name="">
            <a:extLst xmlns:a="http://schemas.openxmlformats.org/drawingml/2006/main">
              <a:ext uri="{FF2B5EF4-FFF2-40B4-BE49-F238E27FC236}">
                <a16:creationId xmlns:a16="http://schemas.microsoft.com/office/drawing/2014/main" id="{71A9EAEB-1FF5-4853-AFB7-9ABFE360EE53}"/>
              </a:ext>
            </a:extLst>
          </p:cNvPr>
          <p:cNvSpPr>
            <a:spLocks xmlns:a="http://schemas.openxmlformats.org/drawingml/2006/main" noGrp="1"/>
          </p:cNvSpPr>
          <p:nvPr/>
        </p:nvSpPr>
        <p:spPr>
          <a:xfrm xmlns:a="http://schemas.openxmlformats.org/drawingml/2006/main">
            <a:off x="6667500" y="4838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#tabunghaji</a:t>
            </a:r>
          </a:p>
        </p:txBody>
      </p:sp>
      <p:sp>
        <p:nvSpPr>
          <p:cNvPr id="32" name="">
            <a:extLst xmlns:a="http://schemas.openxmlformats.org/drawingml/2006/main">
              <a:ext uri="{FF2B5EF4-FFF2-40B4-BE49-F238E27FC236}">
                <a16:creationId xmlns:a16="http://schemas.microsoft.com/office/drawing/2014/main" id="{83116666-08BB-445F-847F-782D0CB1E0B2}"/>
              </a:ext>
            </a:extLst>
          </p:cNvPr>
          <p:cNvSpPr>
            <a:spLocks xmlns:a="http://schemas.openxmlformats.org/drawingml/2006/main" noGrp="1"/>
          </p:cNvSpPr>
          <p:nvPr/>
        </p:nvSpPr>
        <p:spPr>
          <a:xfrm xmlns:a="http://schemas.openxmlformats.org/drawingml/2006/main">
            <a:off x="9715500" y="48387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18  •  293.8K reach</a:t>
            </a:r>
          </a:p>
        </p:txBody>
      </p:sp>
      <p:sp>
        <p:nvSpPr>
          <p:cNvPr id="33" name="">
            <a:extLst xmlns:a="http://schemas.openxmlformats.org/drawingml/2006/main">
              <a:ext uri="{FF2B5EF4-FFF2-40B4-BE49-F238E27FC236}">
                <a16:creationId xmlns:a16="http://schemas.microsoft.com/office/drawing/2014/main" id="{F4CA221B-AE8D-4E81-AFFB-6483B25F5E9B}"/>
              </a:ext>
            </a:extLst>
          </p:cNvPr>
          <p:cNvSpPr>
            <a:spLocks xmlns:a="http://schemas.openxmlformats.org/drawingml/2006/main" noGrp="1"/>
          </p:cNvSpPr>
          <p:nvPr/>
        </p:nvSpPr>
        <p:spPr>
          <a:xfrm xmlns:a="http://schemas.openxmlformats.org/drawingml/2006/main">
            <a:off x="6667500" y="52959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83A18"/>
                </a:solidFill>
              </a:defRPr>
            </a:pPr>
            <a:r>
              <a:rPr sz="1425" b="1">
                <a:solidFill>
                  <a:srgbClr val="B83A18"/>
                </a:solidFill>
              </a:rPr>
              <a:t>#anwaribrahim</a:t>
            </a:r>
          </a:p>
        </p:txBody>
      </p:sp>
      <p:sp>
        <p:nvSpPr>
          <p:cNvPr id="34" name="">
            <a:extLst xmlns:a="http://schemas.openxmlformats.org/drawingml/2006/main">
              <a:ext uri="{FF2B5EF4-FFF2-40B4-BE49-F238E27FC236}">
                <a16:creationId xmlns:a16="http://schemas.microsoft.com/office/drawing/2014/main" id="{3862B004-0BDC-40E4-A2A7-4DD1F1EAB392}"/>
              </a:ext>
            </a:extLst>
          </p:cNvPr>
          <p:cNvSpPr>
            <a:spLocks xmlns:a="http://schemas.openxmlformats.org/drawingml/2006/main" noGrp="1"/>
          </p:cNvSpPr>
          <p:nvPr/>
        </p:nvSpPr>
        <p:spPr>
          <a:xfrm xmlns:a="http://schemas.openxmlformats.org/drawingml/2006/main">
            <a:off x="9715500" y="52959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7C6256"/>
                </a:solidFill>
              </a:defRPr>
            </a:pPr>
            <a:r>
              <a:rPr sz="1125" b="0">
                <a:solidFill>
                  <a:srgbClr val="7C6256"/>
                </a:solidFill>
              </a:rPr>
              <a:t>17  •  161.6K reach</a:t>
            </a:r>
          </a:p>
        </p:txBody>
      </p:sp>
      <p:sp>
        <p:nvSpPr>
          <p:cNvPr id="35" name="">
            <a:extLst xmlns:a="http://schemas.openxmlformats.org/drawingml/2006/main">
              <a:ext uri="{FF2B5EF4-FFF2-40B4-BE49-F238E27FC236}">
                <a16:creationId xmlns:a16="http://schemas.microsoft.com/office/drawing/2014/main" id="{86984EE3-2ACA-4CAA-A83A-B1DBF0AC27B4}"/>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36" name="">
            <a:extLst xmlns:a="http://schemas.openxmlformats.org/drawingml/2006/main">
              <a:ext uri="{FF2B5EF4-FFF2-40B4-BE49-F238E27FC236}">
                <a16:creationId xmlns:a16="http://schemas.microsoft.com/office/drawing/2014/main" id="{23BFF10F-1A37-4616-9A83-989A7DC5DD5C}"/>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37" name="">
            <a:extLst xmlns:a="http://schemas.openxmlformats.org/drawingml/2006/main">
              <a:ext uri="{FF2B5EF4-FFF2-40B4-BE49-F238E27FC236}">
                <a16:creationId xmlns:a16="http://schemas.microsoft.com/office/drawing/2014/main" id="{5A98C604-91A8-4422-A9B9-13FF33937E6E}"/>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1859209593"/>
      </p:ext>
    </p:extLst>
  </p:cSld>
</p:sld>
</file>

<file path=ppt/slides/slide10.xml><?xml version="1.0" encoding="utf-8"?>
<p:sld xmlns:p="http://schemas.openxmlformats.org/presentationml/2006/main">
  <p:cSld>
    <p:bg>
      <p:bgPr>
        <a:solidFill xmlns:a="http://schemas.openxmlformats.org/drawingml/2006/main">
          <a:srgbClr val="FFFAF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DA13EA8-1944-4667-9FB2-8CE134D05C0E}"/>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B83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C2AD21-A552-4736-B37F-2110A56216D4}"/>
              </a:ext>
            </a:extLst>
          </p:cNvPr>
          <p:cNvSpPr>
            <a:spLocks xmlns:a="http://schemas.openxmlformats.org/drawingml/2006/main" noGrp="1"/>
          </p:cNvSpPr>
          <p:nvPr/>
        </p:nvSpPr>
        <p:spPr>
          <a:xfrm xmlns:a="http://schemas.openxmlformats.org/drawingml/2006/main">
            <a:off x="609600" y="209550"/>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D9BD"/>
                </a:solidFill>
              </a:defRPr>
            </a:pPr>
            <a:r>
              <a:rPr sz="1200" b="1">
                <a:solidFill>
                  <a:srgbClr val="FFD9BD"/>
                </a:solidFill>
              </a:rPr>
              <a:t>METHODOLOGY</a:t>
            </a:r>
          </a:p>
        </p:txBody>
      </p:sp>
      <p:sp>
        <p:nvSpPr>
          <p:cNvPr id="3" name="slide-10-title">
            <a:extLst xmlns:a="http://schemas.openxmlformats.org/drawingml/2006/main">
              <a:ext uri="{FF2B5EF4-FFF2-40B4-BE49-F238E27FC236}">
                <a16:creationId xmlns:a16="http://schemas.microsoft.com/office/drawing/2014/main" id="{EAC5B796-1246-4938-9E01-B1ED01C3AA6A}"/>
              </a:ext>
            </a:extLst>
          </p:cNvPr>
          <p:cNvSpPr>
            <a:spLocks xmlns:a="http://schemas.openxmlformats.org/drawingml/2006/main" noGrp="1"/>
          </p:cNvSpPr>
          <p:nvPr/>
        </p:nvSpPr>
        <p:spPr>
          <a:xfrm xmlns:a="http://schemas.openxmlformats.org/drawingml/2006/main">
            <a:off x="609600" y="4667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Read the findings within the limits of the available data</a:t>
            </a:r>
          </a:p>
        </p:txBody>
      </p:sp>
      <p:sp>
        <p:nvSpPr>
          <p:cNvPr id="4" name="">
            <a:extLst xmlns:a="http://schemas.openxmlformats.org/drawingml/2006/main">
              <a:ext uri="{FF2B5EF4-FFF2-40B4-BE49-F238E27FC236}">
                <a16:creationId xmlns:a16="http://schemas.microsoft.com/office/drawing/2014/main" id="{B145DA71-D185-466C-994F-D86B6F266E63}"/>
              </a:ext>
            </a:extLst>
          </p:cNvPr>
          <p:cNvSpPr>
            <a:spLocks xmlns:a="http://schemas.openxmlformats.org/drawingml/2006/main" noGrp="1"/>
          </p:cNvSpPr>
          <p:nvPr/>
        </p:nvSpPr>
        <p:spPr>
          <a:xfrm xmlns:a="http://schemas.openxmlformats.org/drawingml/2006/main">
            <a:off x="11144250" y="5238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FFFF"/>
                </a:solidFill>
              </a:defRPr>
            </a:pPr>
            <a:r>
              <a:rPr sz="1350" b="1">
                <a:solidFill>
                  <a:srgbClr val="FFFFFF"/>
                </a:solidFill>
              </a:rPr>
              <a:t>10</a:t>
            </a:r>
          </a:p>
        </p:txBody>
      </p:sp>
      <p:sp>
        <p:nvSpPr>
          <p:cNvPr id="5" name="">
            <a:extLst xmlns:a="http://schemas.openxmlformats.org/drawingml/2006/main">
              <a:ext uri="{FF2B5EF4-FFF2-40B4-BE49-F238E27FC236}">
                <a16:creationId xmlns:a16="http://schemas.microsoft.com/office/drawing/2014/main" id="{4CFEF2A2-AB4C-4C5E-9B44-017BC0890E34}"/>
              </a:ext>
            </a:extLst>
          </p:cNvPr>
          <p:cNvSpPr>
            <a:spLocks xmlns:a="http://schemas.openxmlformats.org/drawingml/2006/main" noGrp="1"/>
          </p:cNvSpPr>
          <p:nvPr/>
        </p:nvSpPr>
        <p:spPr>
          <a:xfrm xmlns:a="http://schemas.openxmlformats.org/drawingml/2006/main">
            <a:off x="857250" y="1619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83A18"/>
                </a:solidFill>
              </a:defRPr>
            </a:pPr>
            <a:r>
              <a:rPr sz="1800" b="1">
                <a:solidFill>
                  <a:srgbClr val="B83A18"/>
                </a:solidFill>
              </a:rPr>
              <a:t>1</a:t>
            </a:r>
          </a:p>
        </p:txBody>
      </p:sp>
      <p:sp>
        <p:nvSpPr>
          <p:cNvPr id="6" name="">
            <a:extLst xmlns:a="http://schemas.openxmlformats.org/drawingml/2006/main">
              <a:ext uri="{FF2B5EF4-FFF2-40B4-BE49-F238E27FC236}">
                <a16:creationId xmlns:a16="http://schemas.microsoft.com/office/drawing/2014/main" id="{2A113829-6E4A-4EA7-A04C-567FD1B891AD}"/>
              </a:ext>
            </a:extLst>
          </p:cNvPr>
          <p:cNvSpPr>
            <a:spLocks xmlns:a="http://schemas.openxmlformats.org/drawingml/2006/main" noGrp="1"/>
          </p:cNvSpPr>
          <p:nvPr/>
        </p:nvSpPr>
        <p:spPr>
          <a:xfrm xmlns:a="http://schemas.openxmlformats.org/drawingml/2006/main">
            <a:off x="1571625" y="161925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4150E"/>
                </a:solidFill>
              </a:defRPr>
            </a:pPr>
            <a:r>
              <a:rPr sz="1500" b="0">
                <a:solidFill>
                  <a:srgbClr val="24150E"/>
                </a:solidFill>
              </a:rPr>
              <a:t>Metrics are generated from a live monitoring snapshot for the selected project and reporting period.</a:t>
            </a:r>
          </a:p>
        </p:txBody>
      </p:sp>
      <p:sp>
        <p:nvSpPr>
          <p:cNvPr id="7" name="">
            <a:extLst xmlns:a="http://schemas.openxmlformats.org/drawingml/2006/main">
              <a:ext uri="{FF2B5EF4-FFF2-40B4-BE49-F238E27FC236}">
                <a16:creationId xmlns:a16="http://schemas.microsoft.com/office/drawing/2014/main" id="{48EC73E4-807F-4ED6-B502-2B730F8AF2D1}"/>
              </a:ext>
            </a:extLst>
          </p:cNvPr>
          <p:cNvSpPr>
            <a:spLocks xmlns:a="http://schemas.openxmlformats.org/drawingml/2006/main" noGrp="1"/>
          </p:cNvSpPr>
          <p:nvPr/>
        </p:nvSpPr>
        <p:spPr>
          <a:xfrm xmlns:a="http://schemas.openxmlformats.org/drawingml/2006/main">
            <a:off x="857250" y="24955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83A18"/>
                </a:solidFill>
              </a:defRPr>
            </a:pPr>
            <a:r>
              <a:rPr sz="1800" b="1">
                <a:solidFill>
                  <a:srgbClr val="B83A18"/>
                </a:solidFill>
              </a:rPr>
              <a:t>2</a:t>
            </a:r>
          </a:p>
        </p:txBody>
      </p:sp>
      <p:sp>
        <p:nvSpPr>
          <p:cNvPr id="8" name="">
            <a:extLst xmlns:a="http://schemas.openxmlformats.org/drawingml/2006/main">
              <a:ext uri="{FF2B5EF4-FFF2-40B4-BE49-F238E27FC236}">
                <a16:creationId xmlns:a16="http://schemas.microsoft.com/office/drawing/2014/main" id="{CA544830-0FFB-4DFC-B370-715712D7BCBE}"/>
              </a:ext>
            </a:extLst>
          </p:cNvPr>
          <p:cNvSpPr>
            <a:spLocks xmlns:a="http://schemas.openxmlformats.org/drawingml/2006/main" noGrp="1"/>
          </p:cNvSpPr>
          <p:nvPr/>
        </p:nvSpPr>
        <p:spPr>
          <a:xfrm xmlns:a="http://schemas.openxmlformats.org/drawingml/2006/main">
            <a:off x="1571625" y="249555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4150E"/>
                </a:solidFill>
              </a:defRPr>
            </a:pPr>
            <a:r>
              <a:rPr sz="1500" b="0">
                <a:solidFill>
                  <a:srgbClr val="24150E"/>
                </a:solidFill>
              </a:rPr>
              <a:t>Reach represents potential exposure and should not be interpreted as a unique-audience count.</a:t>
            </a:r>
          </a:p>
        </p:txBody>
      </p:sp>
      <p:sp>
        <p:nvSpPr>
          <p:cNvPr id="9" name="">
            <a:extLst xmlns:a="http://schemas.openxmlformats.org/drawingml/2006/main">
              <a:ext uri="{FF2B5EF4-FFF2-40B4-BE49-F238E27FC236}">
                <a16:creationId xmlns:a16="http://schemas.microsoft.com/office/drawing/2014/main" id="{FC3B628E-16AC-47F9-B70B-C9E37E45A3EC}"/>
              </a:ext>
            </a:extLst>
          </p:cNvPr>
          <p:cNvSpPr>
            <a:spLocks xmlns:a="http://schemas.openxmlformats.org/drawingml/2006/main" noGrp="1"/>
          </p:cNvSpPr>
          <p:nvPr/>
        </p:nvSpPr>
        <p:spPr>
          <a:xfrm xmlns:a="http://schemas.openxmlformats.org/drawingml/2006/main">
            <a:off x="857250" y="33718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83A18"/>
                </a:solidFill>
              </a:defRPr>
            </a:pPr>
            <a:r>
              <a:rPr sz="1800" b="1">
                <a:solidFill>
                  <a:srgbClr val="B83A18"/>
                </a:solidFill>
              </a:rPr>
              <a:t>3</a:t>
            </a:r>
          </a:p>
        </p:txBody>
      </p:sp>
      <p:sp>
        <p:nvSpPr>
          <p:cNvPr id="10" name="">
            <a:extLst xmlns:a="http://schemas.openxmlformats.org/drawingml/2006/main">
              <a:ext uri="{FF2B5EF4-FFF2-40B4-BE49-F238E27FC236}">
                <a16:creationId xmlns:a16="http://schemas.microsoft.com/office/drawing/2014/main" id="{1BDC210D-5931-4B87-AB0C-249E87811D8D}"/>
              </a:ext>
            </a:extLst>
          </p:cNvPr>
          <p:cNvSpPr>
            <a:spLocks xmlns:a="http://schemas.openxmlformats.org/drawingml/2006/main" noGrp="1"/>
          </p:cNvSpPr>
          <p:nvPr/>
        </p:nvSpPr>
        <p:spPr>
          <a:xfrm xmlns:a="http://schemas.openxmlformats.org/drawingml/2006/main">
            <a:off x="1571625" y="337185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4150E"/>
                </a:solidFill>
              </a:defRPr>
            </a:pPr>
            <a:r>
              <a:rPr sz="1500" b="0">
                <a:solidFill>
                  <a:srgbClr val="24150E"/>
                </a:solidFill>
              </a:rPr>
              <a:t>Individual mentions do not include per-post reach, likes, comments or shares; featured coverage is representative, not performance-ranked.</a:t>
            </a:r>
          </a:p>
        </p:txBody>
      </p:sp>
      <p:sp>
        <p:nvSpPr>
          <p:cNvPr id="11" name="">
            <a:extLst xmlns:a="http://schemas.openxmlformats.org/drawingml/2006/main">
              <a:ext uri="{FF2B5EF4-FFF2-40B4-BE49-F238E27FC236}">
                <a16:creationId xmlns:a16="http://schemas.microsoft.com/office/drawing/2014/main" id="{1591F509-6373-46CB-97C5-E5A1FB603603}"/>
              </a:ext>
            </a:extLst>
          </p:cNvPr>
          <p:cNvSpPr>
            <a:spLocks xmlns:a="http://schemas.openxmlformats.org/drawingml/2006/main" noGrp="1"/>
          </p:cNvSpPr>
          <p:nvPr/>
        </p:nvSpPr>
        <p:spPr>
          <a:xfrm xmlns:a="http://schemas.openxmlformats.org/drawingml/2006/main">
            <a:off x="857250" y="42481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83A18"/>
                </a:solidFill>
              </a:defRPr>
            </a:pPr>
            <a:r>
              <a:rPr sz="1800" b="1">
                <a:solidFill>
                  <a:srgbClr val="B83A18"/>
                </a:solidFill>
              </a:rPr>
              <a:t>4</a:t>
            </a:r>
          </a:p>
        </p:txBody>
      </p:sp>
      <p:sp>
        <p:nvSpPr>
          <p:cNvPr id="12" name="">
            <a:extLst xmlns:a="http://schemas.openxmlformats.org/drawingml/2006/main">
              <a:ext uri="{FF2B5EF4-FFF2-40B4-BE49-F238E27FC236}">
                <a16:creationId xmlns:a16="http://schemas.microsoft.com/office/drawing/2014/main" id="{F3940E7A-5E87-4AAD-B3D1-006C1440937A}"/>
              </a:ext>
            </a:extLst>
          </p:cNvPr>
          <p:cNvSpPr>
            <a:spLocks xmlns:a="http://schemas.openxmlformats.org/drawingml/2006/main" noGrp="1"/>
          </p:cNvSpPr>
          <p:nvPr/>
        </p:nvSpPr>
        <p:spPr>
          <a:xfrm xmlns:a="http://schemas.openxmlformats.org/drawingml/2006/main">
            <a:off x="1571625" y="424815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4150E"/>
                </a:solidFill>
              </a:defRPr>
            </a:pPr>
            <a:r>
              <a:rPr sz="1500" b="0">
                <a:solidFill>
                  <a:srgbClr val="24150E"/>
                </a:solidFill>
              </a:rPr>
              <a:t>Facebook, Instagram and X may restrict post text or source links in API responses.</a:t>
            </a:r>
          </a:p>
        </p:txBody>
      </p:sp>
      <p:sp>
        <p:nvSpPr>
          <p:cNvPr id="13" name="">
            <a:extLst xmlns:a="http://schemas.openxmlformats.org/drawingml/2006/main">
              <a:ext uri="{FF2B5EF4-FFF2-40B4-BE49-F238E27FC236}">
                <a16:creationId xmlns:a16="http://schemas.microsoft.com/office/drawing/2014/main" id="{A60EAE03-2876-4945-9A70-4F27406DF1A1}"/>
              </a:ext>
            </a:extLst>
          </p:cNvPr>
          <p:cNvSpPr>
            <a:spLocks xmlns:a="http://schemas.openxmlformats.org/drawingml/2006/main" noGrp="1"/>
          </p:cNvSpPr>
          <p:nvPr/>
        </p:nvSpPr>
        <p:spPr>
          <a:xfrm xmlns:a="http://schemas.openxmlformats.org/drawingml/2006/main">
            <a:off x="857250" y="51244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83A18"/>
                </a:solidFill>
              </a:defRPr>
            </a:pPr>
            <a:r>
              <a:rPr sz="1800" b="1">
                <a:solidFill>
                  <a:srgbClr val="B83A18"/>
                </a:solidFill>
              </a:rPr>
              <a:t>5</a:t>
            </a:r>
          </a:p>
        </p:txBody>
      </p:sp>
      <p:sp>
        <p:nvSpPr>
          <p:cNvPr id="14" name="">
            <a:extLst xmlns:a="http://schemas.openxmlformats.org/drawingml/2006/main">
              <a:ext uri="{FF2B5EF4-FFF2-40B4-BE49-F238E27FC236}">
                <a16:creationId xmlns:a16="http://schemas.microsoft.com/office/drawing/2014/main" id="{917ED1F7-C6BD-4D1F-9088-D2FAB99F3EBE}"/>
              </a:ext>
            </a:extLst>
          </p:cNvPr>
          <p:cNvSpPr>
            <a:spLocks xmlns:a="http://schemas.openxmlformats.org/drawingml/2006/main" noGrp="1"/>
          </p:cNvSpPr>
          <p:nvPr/>
        </p:nvSpPr>
        <p:spPr>
          <a:xfrm xmlns:a="http://schemas.openxmlformats.org/drawingml/2006/main">
            <a:off x="1571625" y="512445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4150E"/>
                </a:solidFill>
              </a:defRPr>
            </a:pPr>
            <a:r>
              <a:rPr sz="1500" b="0">
                <a:solidFill>
                  <a:srgbClr val="24150E"/>
                </a:solidFill>
              </a:rPr>
              <a:t>All mention pages returned by the monitoring service for this period were included.</a:t>
            </a:r>
          </a:p>
        </p:txBody>
      </p:sp>
      <p:sp>
        <p:nvSpPr>
          <p:cNvPr id="15" name="">
            <a:extLst xmlns:a="http://schemas.openxmlformats.org/drawingml/2006/main">
              <a:ext uri="{FF2B5EF4-FFF2-40B4-BE49-F238E27FC236}">
                <a16:creationId xmlns:a16="http://schemas.microsoft.com/office/drawing/2014/main" id="{18905215-E3E5-402A-BD42-17A682A0D124}"/>
              </a:ext>
            </a:extLst>
          </p:cNvPr>
          <p:cNvSpPr>
            <a:spLocks xmlns:a="http://schemas.openxmlformats.org/drawingml/2006/main" noGrp="1"/>
          </p:cNvSpPr>
          <p:nvPr/>
        </p:nvSpPr>
        <p:spPr>
          <a:xfrm xmlns:a="http://schemas.openxmlformats.org/drawingml/2006/main">
            <a:off x="609600" y="6496050"/>
            <a:ext cx="10972800" cy="0"/>
          </a:xfrm>
          <a:prstGeom xmlns:a="http://schemas.openxmlformats.org/drawingml/2006/main" prst="line">
            <a:avLst/>
          </a:prstGeom>
          <a:noFill xmlns:a="http://schemas.openxmlformats.org/drawingml/2006/main"/>
          <a:ln xmlns:a="http://schemas.openxmlformats.org/drawingml/2006/main" w="9525">
            <a:solidFill>
              <a:srgbClr val="ECD6C7"/>
            </a:solidFill>
            <a:prstDash val="solid"/>
          </a:ln>
        </p:spPr>
      </p:sp>
      <p:sp>
        <p:nvSpPr>
          <p:cNvPr id="16" name="">
            <a:extLst xmlns:a="http://schemas.openxmlformats.org/drawingml/2006/main">
              <a:ext uri="{FF2B5EF4-FFF2-40B4-BE49-F238E27FC236}">
                <a16:creationId xmlns:a16="http://schemas.microsoft.com/office/drawing/2014/main" id="{BA01C5F0-3FA3-4C49-8E3E-21C42E32AF43}"/>
              </a:ext>
            </a:extLst>
          </p:cNvPr>
          <p:cNvSpPr>
            <a:spLocks xmlns:a="http://schemas.openxmlformats.org/drawingml/2006/main" noGrp="1"/>
          </p:cNvSpPr>
          <p:nvPr/>
        </p:nvSpPr>
        <p:spPr>
          <a:xfrm xmlns:a="http://schemas.openxmlformats.org/drawingml/2006/main">
            <a:off x="609600" y="65722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C6256"/>
                </a:solidFill>
              </a:defRPr>
            </a:pPr>
            <a:r>
              <a:rPr sz="900" b="0">
                <a:solidFill>
                  <a:srgbClr val="7C6256"/>
                </a:solidFill>
              </a:rPr>
              <a:t>PoliticsTest  •  2026-08-27 – 2026-09-02</a:t>
            </a:r>
          </a:p>
        </p:txBody>
      </p:sp>
      <p:sp>
        <p:nvSpPr>
          <p:cNvPr id="17" name="">
            <a:extLst xmlns:a="http://schemas.openxmlformats.org/drawingml/2006/main">
              <a:ext uri="{FF2B5EF4-FFF2-40B4-BE49-F238E27FC236}">
                <a16:creationId xmlns:a16="http://schemas.microsoft.com/office/drawing/2014/main" id="{16C51E60-88AF-4FEC-9264-796C68BC5999}"/>
              </a:ext>
            </a:extLst>
          </p:cNvPr>
          <p:cNvSpPr>
            <a:spLocks xmlns:a="http://schemas.openxmlformats.org/drawingml/2006/main" noGrp="1"/>
          </p:cNvSpPr>
          <p:nvPr/>
        </p:nvSpPr>
        <p:spPr>
          <a:xfrm xmlns:a="http://schemas.openxmlformats.org/drawingml/2006/main">
            <a:off x="8858250" y="6572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C6256"/>
                </a:solidFill>
              </a:defRPr>
            </a:pPr>
            <a:r>
              <a:rPr sz="900" b="0">
                <a:solidFill>
                  <a:srgbClr val="7C6256"/>
                </a:solidFill>
              </a:rPr>
              <a:t>Zestar Media Intelligence</a:t>
            </a:r>
          </a:p>
        </p:txBody>
      </p:sp>
    </p:spTree>
    <p:extLst>
      <p:ext uri="{BB962C8B-B14F-4D97-AF65-F5344CB8AC3E}">
        <p14:creationId xmlns:p14="http://schemas.microsoft.com/office/powerpoint/2010/main" val="2827930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2026-09-02T11:33:42.2680000Z</dcterms:created>
  <dcterms:modified xsi:type="dcterms:W3CDTF">2026-09-02T11:33:42.2680000Z</dcterms:modified>
</coreProperties>
</file>